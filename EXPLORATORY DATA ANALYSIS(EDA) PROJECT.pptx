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4" r:id="rId1"/>
  </p:sldMasterIdLst>
  <p:sldIdLst>
    <p:sldId id="256" r:id="rId2"/>
    <p:sldId id="257" r:id="rId3"/>
    <p:sldId id="259" r:id="rId4"/>
    <p:sldId id="260" r:id="rId5"/>
    <p:sldId id="261" r:id="rId6"/>
    <p:sldId id="262" r:id="rId7"/>
    <p:sldId id="263" r:id="rId8"/>
    <p:sldId id="264" r:id="rId9"/>
    <p:sldId id="266" r:id="rId10"/>
    <p:sldId id="267" r:id="rId11"/>
    <p:sldId id="268" r:id="rId12"/>
    <p:sldId id="278" r:id="rId13"/>
    <p:sldId id="269" r:id="rId14"/>
    <p:sldId id="270" r:id="rId15"/>
    <p:sldId id="271" r:id="rId16"/>
    <p:sldId id="281" r:id="rId17"/>
    <p:sldId id="272" r:id="rId18"/>
    <p:sldId id="273" r:id="rId19"/>
    <p:sldId id="274" r:id="rId20"/>
    <p:sldId id="275" r:id="rId21"/>
    <p:sldId id="276" r:id="rId22"/>
    <p:sldId id="277" r:id="rId23"/>
    <p:sldId id="279" r:id="rId24"/>
    <p:sldId id="282" r:id="rId25"/>
    <p:sldId id="283"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2" d="100"/>
          <a:sy n="82" d="100"/>
        </p:scale>
        <p:origin x="72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93653C0-E75B-4F4B-AFD1-6677808D5675}" type="datetimeFigureOut">
              <a:rPr lang="en-IN" smtClean="0"/>
              <a:t>27-10-2025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4DD15F-7139-416C-BC7E-62B68FF984E8}" type="slidenum">
              <a:rPr lang="en-IN" smtClean="0"/>
              <a:t>‹#›</a:t>
            </a:fld>
            <a:endParaRPr lang="en-IN"/>
          </a:p>
        </p:txBody>
      </p:sp>
    </p:spTree>
    <p:extLst>
      <p:ext uri="{BB962C8B-B14F-4D97-AF65-F5344CB8AC3E}">
        <p14:creationId xmlns:p14="http://schemas.microsoft.com/office/powerpoint/2010/main" val="6471170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93653C0-E75B-4F4B-AFD1-6677808D5675}" type="datetimeFigureOut">
              <a:rPr lang="en-IN" smtClean="0"/>
              <a:t>27-10-2025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4DD15F-7139-416C-BC7E-62B68FF984E8}" type="slidenum">
              <a:rPr lang="en-IN" smtClean="0"/>
              <a:t>‹#›</a:t>
            </a:fld>
            <a:endParaRPr lang="en-IN"/>
          </a:p>
        </p:txBody>
      </p:sp>
    </p:spTree>
    <p:extLst>
      <p:ext uri="{BB962C8B-B14F-4D97-AF65-F5344CB8AC3E}">
        <p14:creationId xmlns:p14="http://schemas.microsoft.com/office/powerpoint/2010/main" val="1649931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3653C0-E75B-4F4B-AFD1-6677808D5675}" type="datetimeFigureOut">
              <a:rPr lang="en-IN" smtClean="0"/>
              <a:t>27-10-2025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4DD15F-7139-416C-BC7E-62B68FF984E8}" type="slidenum">
              <a:rPr lang="en-IN" smtClean="0"/>
              <a:t>‹#›</a:t>
            </a:fld>
            <a:endParaRPr lang="en-IN"/>
          </a:p>
        </p:txBody>
      </p:sp>
    </p:spTree>
    <p:extLst>
      <p:ext uri="{BB962C8B-B14F-4D97-AF65-F5344CB8AC3E}">
        <p14:creationId xmlns:p14="http://schemas.microsoft.com/office/powerpoint/2010/main" val="2175128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93653C0-E75B-4F4B-AFD1-6677808D5675}" type="datetimeFigureOut">
              <a:rPr lang="en-IN" smtClean="0"/>
              <a:t>27-10-2025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D4DD15F-7139-416C-BC7E-62B68FF984E8}" type="slidenum">
              <a:rPr lang="en-IN" smtClean="0"/>
              <a:t>‹#›</a:t>
            </a:fld>
            <a:endParaRPr lang="en-IN"/>
          </a:p>
        </p:txBody>
      </p:sp>
    </p:spTree>
    <p:extLst>
      <p:ext uri="{BB962C8B-B14F-4D97-AF65-F5344CB8AC3E}">
        <p14:creationId xmlns:p14="http://schemas.microsoft.com/office/powerpoint/2010/main" val="36176358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93653C0-E75B-4F4B-AFD1-6677808D5675}" type="datetimeFigureOut">
              <a:rPr lang="en-IN" smtClean="0"/>
              <a:t>27-10-2025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D4DD15F-7139-416C-BC7E-62B68FF984E8}" type="slidenum">
              <a:rPr lang="en-IN" smtClean="0"/>
              <a:t>‹#›</a:t>
            </a:fld>
            <a:endParaRPr lang="en-IN"/>
          </a:p>
        </p:txBody>
      </p:sp>
    </p:spTree>
    <p:extLst>
      <p:ext uri="{BB962C8B-B14F-4D97-AF65-F5344CB8AC3E}">
        <p14:creationId xmlns:p14="http://schemas.microsoft.com/office/powerpoint/2010/main" val="1585005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3653C0-E75B-4F4B-AFD1-6677808D5675}" type="datetimeFigureOut">
              <a:rPr lang="en-IN" smtClean="0"/>
              <a:t>27-10-2025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D4DD15F-7139-416C-BC7E-62B68FF984E8}" type="slidenum">
              <a:rPr lang="en-IN" smtClean="0"/>
              <a:t>‹#›</a:t>
            </a:fld>
            <a:endParaRPr lang="en-IN"/>
          </a:p>
        </p:txBody>
      </p:sp>
    </p:spTree>
    <p:extLst>
      <p:ext uri="{BB962C8B-B14F-4D97-AF65-F5344CB8AC3E}">
        <p14:creationId xmlns:p14="http://schemas.microsoft.com/office/powerpoint/2010/main" val="1719329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93653C0-E75B-4F4B-AFD1-6677808D5675}" type="datetimeFigureOut">
              <a:rPr lang="en-IN" smtClean="0"/>
              <a:t>27-10-2025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D4DD15F-7139-416C-BC7E-62B68FF984E8}" type="slidenum">
              <a:rPr lang="en-IN" smtClean="0"/>
              <a:t>‹#›</a:t>
            </a:fld>
            <a:endParaRPr lang="en-IN"/>
          </a:p>
        </p:txBody>
      </p:sp>
    </p:spTree>
    <p:extLst>
      <p:ext uri="{BB962C8B-B14F-4D97-AF65-F5344CB8AC3E}">
        <p14:creationId xmlns:p14="http://schemas.microsoft.com/office/powerpoint/2010/main" val="4184211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93653C0-E75B-4F4B-AFD1-6677808D5675}" type="datetimeFigureOut">
              <a:rPr lang="en-IN" smtClean="0"/>
              <a:t>27-10-2025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D4DD15F-7139-416C-BC7E-62B68FF984E8}" type="slidenum">
              <a:rPr lang="en-IN" smtClean="0"/>
              <a:t>‹#›</a:t>
            </a:fld>
            <a:endParaRPr lang="en-IN"/>
          </a:p>
        </p:txBody>
      </p:sp>
    </p:spTree>
    <p:extLst>
      <p:ext uri="{BB962C8B-B14F-4D97-AF65-F5344CB8AC3E}">
        <p14:creationId xmlns:p14="http://schemas.microsoft.com/office/powerpoint/2010/main" val="16791253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93653C0-E75B-4F4B-AFD1-6677808D5675}" type="datetimeFigureOut">
              <a:rPr lang="en-IN" smtClean="0"/>
              <a:t>27-10-2025</a:t>
            </a:fld>
            <a:endParaRPr lang="en-IN"/>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4DD15F-7139-416C-BC7E-62B68FF984E8}" type="slidenum">
              <a:rPr lang="en-IN" smtClean="0"/>
              <a:t>‹#›</a:t>
            </a:fld>
            <a:endParaRPr lang="en-IN"/>
          </a:p>
        </p:txBody>
      </p:sp>
    </p:spTree>
    <p:extLst>
      <p:ext uri="{BB962C8B-B14F-4D97-AF65-F5344CB8AC3E}">
        <p14:creationId xmlns:p14="http://schemas.microsoft.com/office/powerpoint/2010/main" val="21200954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3653C0-E75B-4F4B-AFD1-6677808D5675}" type="datetimeFigureOut">
              <a:rPr lang="en-IN" smtClean="0"/>
              <a:t>27-10-2025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4DD15F-7139-416C-BC7E-62B68FF984E8}" type="slidenum">
              <a:rPr lang="en-IN" smtClean="0"/>
              <a:t>‹#›</a:t>
            </a:fld>
            <a:endParaRPr lang="en-IN"/>
          </a:p>
        </p:txBody>
      </p:sp>
    </p:spTree>
    <p:extLst>
      <p:ext uri="{BB962C8B-B14F-4D97-AF65-F5344CB8AC3E}">
        <p14:creationId xmlns:p14="http://schemas.microsoft.com/office/powerpoint/2010/main" val="33855033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3653C0-E75B-4F4B-AFD1-6677808D5675}" type="datetimeFigureOut">
              <a:rPr lang="en-IN" smtClean="0"/>
              <a:t>27-10-2025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4DD15F-7139-416C-BC7E-62B68FF984E8}"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7141578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3653C0-E75B-4F4B-AFD1-6677808D5675}" type="datetimeFigureOut">
              <a:rPr lang="en-IN" smtClean="0"/>
              <a:t>27-10-2025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4DD15F-7139-416C-BC7E-62B68FF984E8}" type="slidenum">
              <a:rPr lang="en-IN" smtClean="0"/>
              <a:t>‹#›</a:t>
            </a:fld>
            <a:endParaRPr lang="en-IN"/>
          </a:p>
        </p:txBody>
      </p:sp>
    </p:spTree>
    <p:extLst>
      <p:ext uri="{BB962C8B-B14F-4D97-AF65-F5344CB8AC3E}">
        <p14:creationId xmlns:p14="http://schemas.microsoft.com/office/powerpoint/2010/main" val="10097654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3653C0-E75B-4F4B-AFD1-6677808D5675}" type="datetimeFigureOut">
              <a:rPr lang="en-IN" smtClean="0"/>
              <a:t>27-10-2025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4DD15F-7139-416C-BC7E-62B68FF984E8}"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1701664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3653C0-E75B-4F4B-AFD1-6677808D5675}" type="datetimeFigureOut">
              <a:rPr lang="en-IN" smtClean="0"/>
              <a:t>27-10-2025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4DD15F-7139-416C-BC7E-62B68FF984E8}" type="slidenum">
              <a:rPr lang="en-IN" smtClean="0"/>
              <a:t>‹#›</a:t>
            </a:fld>
            <a:endParaRPr lang="en-IN"/>
          </a:p>
        </p:txBody>
      </p:sp>
    </p:spTree>
    <p:extLst>
      <p:ext uri="{BB962C8B-B14F-4D97-AF65-F5344CB8AC3E}">
        <p14:creationId xmlns:p14="http://schemas.microsoft.com/office/powerpoint/2010/main" val="19372471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93653C0-E75B-4F4B-AFD1-6677808D5675}" type="datetimeFigureOut">
              <a:rPr lang="en-IN" smtClean="0"/>
              <a:t>27-10-2025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4DD15F-7139-416C-BC7E-62B68FF984E8}" type="slidenum">
              <a:rPr lang="en-IN" smtClean="0"/>
              <a:t>‹#›</a:t>
            </a:fld>
            <a:endParaRPr lang="en-IN"/>
          </a:p>
        </p:txBody>
      </p:sp>
    </p:spTree>
    <p:extLst>
      <p:ext uri="{BB962C8B-B14F-4D97-AF65-F5344CB8AC3E}">
        <p14:creationId xmlns:p14="http://schemas.microsoft.com/office/powerpoint/2010/main" val="17211511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93653C0-E75B-4F4B-AFD1-6677808D5675}" type="datetimeFigureOut">
              <a:rPr lang="en-IN" smtClean="0"/>
              <a:t>27-10-2025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4DD15F-7139-416C-BC7E-62B68FF984E8}" type="slidenum">
              <a:rPr lang="en-IN" smtClean="0"/>
              <a:t>‹#›</a:t>
            </a:fld>
            <a:endParaRPr lang="en-IN"/>
          </a:p>
        </p:txBody>
      </p:sp>
    </p:spTree>
    <p:extLst>
      <p:ext uri="{BB962C8B-B14F-4D97-AF65-F5344CB8AC3E}">
        <p14:creationId xmlns:p14="http://schemas.microsoft.com/office/powerpoint/2010/main" val="36805744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93653C0-E75B-4F4B-AFD1-6677808D5675}" type="datetimeFigureOut">
              <a:rPr lang="en-IN" smtClean="0"/>
              <a:t>27-10-2025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D4DD15F-7139-416C-BC7E-62B68FF984E8}" type="slidenum">
              <a:rPr lang="en-IN" smtClean="0"/>
              <a:t>‹#›</a:t>
            </a:fld>
            <a:endParaRPr lang="en-IN"/>
          </a:p>
        </p:txBody>
      </p:sp>
    </p:spTree>
    <p:extLst>
      <p:ext uri="{BB962C8B-B14F-4D97-AF65-F5344CB8AC3E}">
        <p14:creationId xmlns:p14="http://schemas.microsoft.com/office/powerpoint/2010/main" val="3316077548"/>
      </p:ext>
    </p:extLst>
  </p:cSld>
  <p:clrMap bg1="lt1" tx1="dk1" bg2="lt2" tx2="dk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 id="2147483932" r:id="rId8"/>
    <p:sldLayoutId id="2147483933" r:id="rId9"/>
    <p:sldLayoutId id="2147483934" r:id="rId10"/>
    <p:sldLayoutId id="2147483935" r:id="rId11"/>
    <p:sldLayoutId id="2147483936" r:id="rId12"/>
    <p:sldLayoutId id="2147483937" r:id="rId13"/>
    <p:sldLayoutId id="2147483938" r:id="rId14"/>
    <p:sldLayoutId id="2147483939" r:id="rId15"/>
    <p:sldLayoutId id="2147483940"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D44CAAE-8DDE-574F-73FD-72E7C2F144A2}"/>
              </a:ext>
            </a:extLst>
          </p:cNvPr>
          <p:cNvSpPr>
            <a:spLocks noGrp="1"/>
          </p:cNvSpPr>
          <p:nvPr>
            <p:ph type="title"/>
          </p:nvPr>
        </p:nvSpPr>
        <p:spPr/>
        <p:txBody>
          <a:bodyPr>
            <a:normAutofit/>
          </a:bodyPr>
          <a:lstStyle/>
          <a:p>
            <a:r>
              <a:rPr lang="en-US" b="1" u="sng" dirty="0">
                <a:effectLst>
                  <a:outerShdw blurRad="38100" dist="38100" dir="2700000" algn="tl">
                    <a:srgbClr val="000000">
                      <a:alpha val="43137"/>
                    </a:srgbClr>
                  </a:outerShdw>
                </a:effectLst>
              </a:rPr>
              <a:t>EXPLORATORY DATA ANALYSIS(EDA) PROJECT</a:t>
            </a:r>
            <a:br>
              <a:rPr lang="en-US" b="1" u="sng" dirty="0">
                <a:effectLst>
                  <a:outerShdw blurRad="38100" dist="38100" dir="2700000" algn="tl">
                    <a:srgbClr val="000000">
                      <a:alpha val="43137"/>
                    </a:srgbClr>
                  </a:outerShdw>
                </a:effectLst>
              </a:rPr>
            </a:br>
            <a:endParaRPr lang="en-IN" b="1" u="sng" dirty="0">
              <a:effectLst>
                <a:outerShdw blurRad="38100" dist="38100" dir="2700000" algn="tl">
                  <a:srgbClr val="000000">
                    <a:alpha val="43137"/>
                  </a:srgbClr>
                </a:outerShdw>
              </a:effectLst>
            </a:endParaRPr>
          </a:p>
        </p:txBody>
      </p:sp>
      <p:pic>
        <p:nvPicPr>
          <p:cNvPr id="16" name="Content Placeholder 15">
            <a:extLst>
              <a:ext uri="{FF2B5EF4-FFF2-40B4-BE49-F238E27FC236}">
                <a16:creationId xmlns:a16="http://schemas.microsoft.com/office/drawing/2014/main" id="{48D7AD5E-AA91-4CE5-CC19-C9FB1AE04B4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60913" y="1021556"/>
            <a:ext cx="4513262" cy="4513262"/>
          </a:xfrm>
        </p:spPr>
      </p:pic>
      <p:sp>
        <p:nvSpPr>
          <p:cNvPr id="9" name="Text Placeholder 8">
            <a:extLst>
              <a:ext uri="{FF2B5EF4-FFF2-40B4-BE49-F238E27FC236}">
                <a16:creationId xmlns:a16="http://schemas.microsoft.com/office/drawing/2014/main" id="{6D9BD39C-9BB4-ADB9-7E96-89FCC90A0295}"/>
              </a:ext>
            </a:extLst>
          </p:cNvPr>
          <p:cNvSpPr>
            <a:spLocks noGrp="1"/>
          </p:cNvSpPr>
          <p:nvPr>
            <p:ph type="body" sz="half" idx="2"/>
          </p:nvPr>
        </p:nvSpPr>
        <p:spPr>
          <a:xfrm>
            <a:off x="685800" y="3545633"/>
            <a:ext cx="4114800" cy="2673051"/>
          </a:xfrm>
        </p:spPr>
        <p:txBody>
          <a:bodyPr/>
          <a:lstStyle/>
          <a:p>
            <a:r>
              <a:rPr lang="en-US" b="1" u="sng" dirty="0">
                <a:solidFill>
                  <a:srgbClr val="00B050"/>
                </a:solidFill>
              </a:rPr>
              <a:t>E-COMMERCE FLIPKART-</a:t>
            </a:r>
          </a:p>
          <a:p>
            <a:r>
              <a:rPr lang="en-US" b="1" u="sng" dirty="0">
                <a:solidFill>
                  <a:srgbClr val="00B050"/>
                </a:solidFill>
              </a:rPr>
              <a:t>MAJOR PHONE BRAND MARKET ANALYSIS</a:t>
            </a:r>
          </a:p>
          <a:p>
            <a:endParaRPr lang="en-US" b="1" u="sng" dirty="0">
              <a:solidFill>
                <a:srgbClr val="00B050"/>
              </a:solidFill>
            </a:endParaRPr>
          </a:p>
          <a:p>
            <a:endParaRPr lang="en-US" b="1" u="sng" dirty="0">
              <a:solidFill>
                <a:srgbClr val="00B050"/>
              </a:solidFill>
            </a:endParaRPr>
          </a:p>
          <a:p>
            <a:r>
              <a:rPr lang="en-US" b="1" u="sng" dirty="0"/>
              <a:t>BY</a:t>
            </a:r>
          </a:p>
          <a:p>
            <a:r>
              <a:rPr lang="en-US" b="1" u="sng" dirty="0"/>
              <a:t>VENU GOPAL BATHULA.</a:t>
            </a:r>
            <a:endParaRPr lang="en-IN" b="1" u="sng" dirty="0"/>
          </a:p>
        </p:txBody>
      </p:sp>
    </p:spTree>
    <p:extLst>
      <p:ext uri="{BB962C8B-B14F-4D97-AF65-F5344CB8AC3E}">
        <p14:creationId xmlns:p14="http://schemas.microsoft.com/office/powerpoint/2010/main" val="6605670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EC6478-A97F-8357-6F9F-1E0B61A5868F}"/>
              </a:ext>
            </a:extLst>
          </p:cNvPr>
          <p:cNvSpPr>
            <a:spLocks noGrp="1"/>
          </p:cNvSpPr>
          <p:nvPr>
            <p:ph type="ctrTitle"/>
          </p:nvPr>
        </p:nvSpPr>
        <p:spPr>
          <a:xfrm>
            <a:off x="1371600" y="1558213"/>
            <a:ext cx="9448800" cy="765110"/>
          </a:xfrm>
        </p:spPr>
        <p:txBody>
          <a:bodyPr>
            <a:normAutofit fontScale="90000"/>
          </a:bodyPr>
          <a:lstStyle/>
          <a:p>
            <a:r>
              <a:rPr lang="en-US" b="1" u="sng" dirty="0">
                <a:solidFill>
                  <a:schemeClr val="tx1"/>
                </a:solidFill>
              </a:rPr>
              <a:t>About me</a:t>
            </a:r>
            <a:endParaRPr lang="en-IN" b="1" u="sng" dirty="0">
              <a:solidFill>
                <a:schemeClr val="tx1"/>
              </a:solidFill>
            </a:endParaRPr>
          </a:p>
        </p:txBody>
      </p:sp>
      <p:sp>
        <p:nvSpPr>
          <p:cNvPr id="4" name="Subtitle 3">
            <a:extLst>
              <a:ext uri="{FF2B5EF4-FFF2-40B4-BE49-F238E27FC236}">
                <a16:creationId xmlns:a16="http://schemas.microsoft.com/office/drawing/2014/main" id="{90990835-4A35-DB8F-7F12-1D2F474AAF42}"/>
              </a:ext>
            </a:extLst>
          </p:cNvPr>
          <p:cNvSpPr>
            <a:spLocks noGrp="1"/>
          </p:cNvSpPr>
          <p:nvPr>
            <p:ph type="subTitle" idx="1"/>
          </p:nvPr>
        </p:nvSpPr>
        <p:spPr>
          <a:xfrm>
            <a:off x="1371600" y="2687216"/>
            <a:ext cx="9448800" cy="2379305"/>
          </a:xfrm>
        </p:spPr>
        <p:txBody>
          <a:bodyPr>
            <a:normAutofit/>
          </a:bodyPr>
          <a:lstStyle/>
          <a:p>
            <a:pPr marL="342900" indent="-342900" algn="just">
              <a:buFont typeface="Wingdings" panose="05000000000000000000" pitchFamily="2" charset="2"/>
              <a:buChar char="q"/>
            </a:pPr>
            <a:r>
              <a:rPr lang="en-US" b="1" dirty="0">
                <a:solidFill>
                  <a:schemeClr val="tx1"/>
                </a:solidFill>
              </a:rPr>
              <a:t>I’m a </a:t>
            </a:r>
            <a:r>
              <a:rPr lang="en-US" b="1" dirty="0" err="1">
                <a:solidFill>
                  <a:schemeClr val="tx1"/>
                </a:solidFill>
              </a:rPr>
              <a:t>B.Tech</a:t>
            </a:r>
            <a:r>
              <a:rPr lang="en-US" b="1" dirty="0">
                <a:solidFill>
                  <a:schemeClr val="tx1"/>
                </a:solidFill>
              </a:rPr>
              <a:t> student passionate about Data Science and uncovering insights that solve real-world problems.</a:t>
            </a:r>
          </a:p>
          <a:p>
            <a:pPr marL="342900" indent="-342900" algn="just">
              <a:buFont typeface="Wingdings" panose="05000000000000000000" pitchFamily="2" charset="2"/>
              <a:buChar char="q"/>
            </a:pPr>
            <a:r>
              <a:rPr lang="en-US" b="1" dirty="0">
                <a:solidFill>
                  <a:schemeClr val="tx1"/>
                </a:solidFill>
              </a:rPr>
              <a:t>Skilled in Python, Pandas, NumPy, and visualization tools like Matplotlib and Seaborn, I focus on data cleaning, analysis, and visualization.</a:t>
            </a:r>
          </a:p>
          <a:p>
            <a:pPr marL="342900" indent="-342900" algn="just">
              <a:buFont typeface="Wingdings" panose="05000000000000000000" pitchFamily="2" charset="2"/>
              <a:buChar char="q"/>
            </a:pPr>
            <a:r>
              <a:rPr lang="en-US" b="1" dirty="0">
                <a:solidFill>
                  <a:schemeClr val="tx1"/>
                </a:solidFill>
              </a:rPr>
              <a:t>My goal is to turn data into meaningful, actionable solutions through my projects like Flipkart ecommerce data.</a:t>
            </a:r>
            <a:endParaRPr lang="en-IN" b="1" dirty="0">
              <a:solidFill>
                <a:schemeClr val="tx1"/>
              </a:solidFill>
            </a:endParaRPr>
          </a:p>
        </p:txBody>
      </p:sp>
    </p:spTree>
    <p:extLst>
      <p:ext uri="{BB962C8B-B14F-4D97-AF65-F5344CB8AC3E}">
        <p14:creationId xmlns:p14="http://schemas.microsoft.com/office/powerpoint/2010/main" val="19488739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A0283-F9DD-DEFA-07D0-CA801304FE63}"/>
              </a:ext>
            </a:extLst>
          </p:cNvPr>
          <p:cNvSpPr>
            <a:spLocks noGrp="1"/>
          </p:cNvSpPr>
          <p:nvPr>
            <p:ph type="title"/>
          </p:nvPr>
        </p:nvSpPr>
        <p:spPr>
          <a:xfrm>
            <a:off x="685800" y="1524000"/>
            <a:ext cx="4114800" cy="995265"/>
          </a:xfrm>
        </p:spPr>
        <p:txBody>
          <a:bodyPr/>
          <a:lstStyle/>
          <a:p>
            <a:r>
              <a:rPr lang="en-US" b="1" u="sng" dirty="0">
                <a:solidFill>
                  <a:schemeClr val="tx1"/>
                </a:solidFill>
              </a:rPr>
              <a:t>Project agenda</a:t>
            </a:r>
            <a:endParaRPr lang="en-IN" b="1" u="sng" dirty="0">
              <a:solidFill>
                <a:schemeClr val="tx1"/>
              </a:solidFill>
            </a:endParaRPr>
          </a:p>
        </p:txBody>
      </p:sp>
      <p:pic>
        <p:nvPicPr>
          <p:cNvPr id="7" name="Content Placeholder 6">
            <a:extLst>
              <a:ext uri="{FF2B5EF4-FFF2-40B4-BE49-F238E27FC236}">
                <a16:creationId xmlns:a16="http://schemas.microsoft.com/office/drawing/2014/main" id="{F41B0A4C-8D68-20FC-AA92-4FADD729889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60913" y="2142776"/>
            <a:ext cx="4513262" cy="2270823"/>
          </a:xfrm>
        </p:spPr>
      </p:pic>
      <p:sp>
        <p:nvSpPr>
          <p:cNvPr id="5" name="Rectangle 1">
            <a:extLst>
              <a:ext uri="{FF2B5EF4-FFF2-40B4-BE49-F238E27FC236}">
                <a16:creationId xmlns:a16="http://schemas.microsoft.com/office/drawing/2014/main" id="{BAA8401A-1753-F4C2-5920-2761A2170A15}"/>
              </a:ext>
            </a:extLst>
          </p:cNvPr>
          <p:cNvSpPr>
            <a:spLocks noGrp="1" noChangeArrowheads="1"/>
          </p:cNvSpPr>
          <p:nvPr>
            <p:ph type="body" sz="half" idx="2"/>
          </p:nvPr>
        </p:nvSpPr>
        <p:spPr bwMode="auto">
          <a:xfrm>
            <a:off x="755780" y="3191065"/>
            <a:ext cx="4277107"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200" b="1" i="0" u="none" strike="noStrike" cap="none" normalizeH="0" baseline="0" dirty="0">
                <a:ln>
                  <a:noFill/>
                </a:ln>
                <a:solidFill>
                  <a:schemeClr val="tx1"/>
                </a:solidFill>
                <a:effectLst/>
                <a:latin typeface="Arial" panose="020B0604020202020204" pitchFamily="34" charset="0"/>
              </a:rPr>
              <a:t>Data Collection (Web Scraping Process &amp; Tools)</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171450" marR="0" lvl="0" indent="-1714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200" b="1" i="0" u="none" strike="noStrike" cap="none" normalizeH="0" baseline="0" dirty="0">
                <a:ln>
                  <a:noFill/>
                </a:ln>
                <a:solidFill>
                  <a:schemeClr val="tx1"/>
                </a:solidFill>
                <a:effectLst/>
                <a:latin typeface="Arial" panose="020B0604020202020204" pitchFamily="34" charset="0"/>
              </a:rPr>
              <a:t>Project Overview &amp; Objectives</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171450" marR="0" lvl="0" indent="-1714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200" b="1" i="0" u="none" strike="noStrike" cap="none" normalizeH="0" baseline="0" dirty="0">
                <a:ln>
                  <a:noFill/>
                </a:ln>
                <a:solidFill>
                  <a:schemeClr val="tx1"/>
                </a:solidFill>
                <a:effectLst/>
                <a:latin typeface="Arial" panose="020B0604020202020204" pitchFamily="34" charset="0"/>
              </a:rPr>
              <a:t>Data Understanding &amp; Preparation</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171450" marR="0" lvl="0" indent="-1714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200" b="1" i="0" u="none" strike="noStrike" cap="none" normalizeH="0" baseline="0" dirty="0">
                <a:ln>
                  <a:noFill/>
                </a:ln>
                <a:solidFill>
                  <a:schemeClr val="tx1"/>
                </a:solidFill>
                <a:effectLst/>
                <a:latin typeface="Arial" panose="020B0604020202020204" pitchFamily="34" charset="0"/>
              </a:rPr>
              <a:t>Exploratory Data Analysis (EDA)</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171450" marR="0" lvl="0" indent="-1714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200" b="1" i="0" u="none" strike="noStrike" cap="none" normalizeH="0" baseline="0" dirty="0">
                <a:ln>
                  <a:noFill/>
                </a:ln>
                <a:solidFill>
                  <a:schemeClr val="tx1"/>
                </a:solidFill>
                <a:effectLst/>
                <a:latin typeface="Arial" panose="020B0604020202020204" pitchFamily="34" charset="0"/>
              </a:rPr>
              <a:t>Data Cleaning &amp; Preprocessing</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171450" marR="0" lvl="0" indent="-1714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200" b="1" i="0" u="none" strike="noStrike" cap="none" normalizeH="0" baseline="0" dirty="0">
                <a:ln>
                  <a:noFill/>
                </a:ln>
                <a:solidFill>
                  <a:schemeClr val="tx1"/>
                </a:solidFill>
                <a:effectLst/>
                <a:latin typeface="Arial" panose="020B0604020202020204" pitchFamily="34" charset="0"/>
              </a:rPr>
              <a:t>Data Transformation &amp; Manipulation</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171450" marR="0" lvl="0" indent="-1714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200" b="1" i="0" u="none" strike="noStrike" cap="none" normalizeH="0" baseline="0" dirty="0">
                <a:ln>
                  <a:noFill/>
                </a:ln>
                <a:solidFill>
                  <a:schemeClr val="tx1"/>
                </a:solidFill>
                <a:effectLst/>
                <a:latin typeface="Arial" panose="020B0604020202020204" pitchFamily="34" charset="0"/>
              </a:rPr>
              <a:t>Univariate Insights</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171450" marR="0" lvl="0" indent="-1714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200" b="1" i="0" u="none" strike="noStrike" cap="none" normalizeH="0" baseline="0" dirty="0">
                <a:ln>
                  <a:noFill/>
                </a:ln>
                <a:solidFill>
                  <a:schemeClr val="tx1"/>
                </a:solidFill>
                <a:effectLst/>
                <a:latin typeface="Arial" panose="020B0604020202020204" pitchFamily="34" charset="0"/>
              </a:rPr>
              <a:t>Bivariate Insights</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171450" marR="0" lvl="0" indent="-1714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200" b="1" i="0" u="none" strike="noStrike" cap="none" normalizeH="0" baseline="0" dirty="0">
                <a:ln>
                  <a:noFill/>
                </a:ln>
                <a:solidFill>
                  <a:schemeClr val="tx1"/>
                </a:solidFill>
                <a:effectLst/>
                <a:latin typeface="Arial" panose="020B0604020202020204" pitchFamily="34" charset="0"/>
              </a:rPr>
              <a:t>Answering Key Business Questions</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171450" marR="0" lvl="0" indent="-1714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200" b="1" i="0" u="none" strike="noStrike" cap="none" normalizeH="0" baseline="0" dirty="0">
                <a:ln>
                  <a:noFill/>
                </a:ln>
                <a:solidFill>
                  <a:schemeClr val="tx1"/>
                </a:solidFill>
                <a:effectLst/>
                <a:latin typeface="Arial" panose="020B0604020202020204" pitchFamily="34" charset="0"/>
              </a:rPr>
              <a:t>Findings &amp; Insights</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171450" marR="0" lvl="0" indent="-1714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200" b="1" i="0" u="none" strike="noStrike" cap="none" normalizeH="0" baseline="0" dirty="0">
                <a:ln>
                  <a:noFill/>
                </a:ln>
                <a:solidFill>
                  <a:schemeClr val="tx1"/>
                </a:solidFill>
                <a:effectLst/>
                <a:latin typeface="Arial" panose="020B0604020202020204" pitchFamily="34" charset="0"/>
              </a:rPr>
              <a:t>Challenges Faced &amp; Key Learnings</a:t>
            </a: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490438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84B5ADC-FCCA-6981-6594-DA18974C39FB}"/>
              </a:ext>
            </a:extLst>
          </p:cNvPr>
          <p:cNvSpPr>
            <a:spLocks noGrp="1"/>
          </p:cNvSpPr>
          <p:nvPr>
            <p:ph type="ctrTitle"/>
          </p:nvPr>
        </p:nvSpPr>
        <p:spPr>
          <a:xfrm>
            <a:off x="1194318" y="1803406"/>
            <a:ext cx="4637315" cy="463934"/>
          </a:xfrm>
        </p:spPr>
        <p:txBody>
          <a:bodyPr>
            <a:normAutofit/>
          </a:bodyPr>
          <a:lstStyle/>
          <a:p>
            <a:r>
              <a:rPr lang="en-IN" sz="2400" b="1" u="sng" dirty="0">
                <a:solidFill>
                  <a:schemeClr val="tx1"/>
                </a:solidFill>
              </a:rPr>
              <a:t>BUSINESS PROBLEM OBJECTIVE</a:t>
            </a:r>
          </a:p>
        </p:txBody>
      </p:sp>
      <p:sp>
        <p:nvSpPr>
          <p:cNvPr id="19" name="Subtitle 18">
            <a:extLst>
              <a:ext uri="{FF2B5EF4-FFF2-40B4-BE49-F238E27FC236}">
                <a16:creationId xmlns:a16="http://schemas.microsoft.com/office/drawing/2014/main" id="{86C7BF1B-AE53-1EE6-302F-B6DF0789C829}"/>
              </a:ext>
            </a:extLst>
          </p:cNvPr>
          <p:cNvSpPr>
            <a:spLocks noGrp="1"/>
          </p:cNvSpPr>
          <p:nvPr>
            <p:ph type="subTitle" idx="1"/>
          </p:nvPr>
        </p:nvSpPr>
        <p:spPr>
          <a:xfrm>
            <a:off x="1371600" y="2397966"/>
            <a:ext cx="8649478" cy="4460033"/>
          </a:xfrm>
        </p:spPr>
        <p:txBody>
          <a:bodyPr/>
          <a:lstStyle/>
          <a:p>
            <a:pPr marL="285750" indent="-285750" algn="just">
              <a:buFont typeface="Wingdings" panose="05000000000000000000" pitchFamily="2" charset="2"/>
              <a:buChar char="v"/>
            </a:pPr>
            <a:r>
              <a:rPr lang="en-US" dirty="0">
                <a:solidFill>
                  <a:schemeClr val="tx1"/>
                </a:solidFill>
              </a:rPr>
              <a:t>With the rapid growth of the smartphone market, customers are often overwhelmed by </a:t>
            </a:r>
            <a:r>
              <a:rPr lang="en-US" b="1" dirty="0">
                <a:solidFill>
                  <a:schemeClr val="tx1"/>
                </a:solidFill>
              </a:rPr>
              <a:t>the wide range of models, features, and price variations</a:t>
            </a:r>
            <a:r>
              <a:rPr lang="en-US" dirty="0">
                <a:solidFill>
                  <a:schemeClr val="tx1"/>
                </a:solidFill>
              </a:rPr>
              <a:t> available on e-commerce platforms like </a:t>
            </a:r>
            <a:r>
              <a:rPr lang="en-US" b="1" dirty="0">
                <a:solidFill>
                  <a:schemeClr val="tx1"/>
                </a:solidFill>
              </a:rPr>
              <a:t>Flipkart</a:t>
            </a:r>
            <a:r>
              <a:rPr lang="en-US" dirty="0">
                <a:solidFill>
                  <a:schemeClr val="tx1"/>
                </a:solidFill>
              </a:rPr>
              <a:t>.</a:t>
            </a:r>
          </a:p>
          <a:p>
            <a:pPr marL="285750" indent="-285750" algn="just">
              <a:buFont typeface="Wingdings" panose="05000000000000000000" pitchFamily="2" charset="2"/>
              <a:buChar char="v"/>
            </a:pPr>
            <a:r>
              <a:rPr lang="en-US" dirty="0">
                <a:solidFill>
                  <a:schemeClr val="tx1"/>
                </a:solidFill>
              </a:rPr>
              <a:t>Data on these platforms is usually </a:t>
            </a:r>
            <a:r>
              <a:rPr lang="en-US" b="1" dirty="0">
                <a:solidFill>
                  <a:schemeClr val="tx1"/>
                </a:solidFill>
              </a:rPr>
              <a:t>unstructured and inconsistent</a:t>
            </a:r>
            <a:r>
              <a:rPr lang="en-US" dirty="0">
                <a:solidFill>
                  <a:schemeClr val="tx1"/>
                </a:solidFill>
              </a:rPr>
              <a:t>, making it difficult to compare specifications such as </a:t>
            </a:r>
            <a:r>
              <a:rPr lang="en-US" b="1" dirty="0">
                <a:solidFill>
                  <a:schemeClr val="tx1"/>
                </a:solidFill>
              </a:rPr>
              <a:t>RAM, battery capacity, camera quality, processor type, and overall value for money</a:t>
            </a:r>
            <a:r>
              <a:rPr lang="en-US" dirty="0">
                <a:solidFill>
                  <a:schemeClr val="tx1"/>
                </a:solidFill>
              </a:rPr>
              <a:t>.</a:t>
            </a:r>
          </a:p>
          <a:p>
            <a:pPr marL="285750" indent="-285750" algn="just">
              <a:buFont typeface="Wingdings" panose="05000000000000000000" pitchFamily="2" charset="2"/>
              <a:buChar char="v"/>
            </a:pPr>
            <a:r>
              <a:rPr lang="en-US" dirty="0">
                <a:solidFill>
                  <a:schemeClr val="tx1"/>
                </a:solidFill>
              </a:rPr>
              <a:t>This project focuses on analyzing web-scraped Flipkart mobile data to </a:t>
            </a:r>
            <a:r>
              <a:rPr lang="en-US" b="1" dirty="0">
                <a:solidFill>
                  <a:schemeClr val="tx1"/>
                </a:solidFill>
              </a:rPr>
              <a:t>understand market trends, customer preferences, and price-driving factors</a:t>
            </a:r>
            <a:r>
              <a:rPr lang="en-US" dirty="0">
                <a:solidFill>
                  <a:schemeClr val="tx1"/>
                </a:solidFill>
              </a:rPr>
              <a:t> through </a:t>
            </a:r>
            <a:r>
              <a:rPr lang="en-US" b="1" dirty="0">
                <a:solidFill>
                  <a:schemeClr val="tx1"/>
                </a:solidFill>
              </a:rPr>
              <a:t>Exploratory Data Analysis (EDA)</a:t>
            </a:r>
            <a:r>
              <a:rPr lang="en-US" dirty="0">
                <a:solidFill>
                  <a:schemeClr val="tx1"/>
                </a:solidFill>
              </a:rPr>
              <a:t>.</a:t>
            </a:r>
            <a:endParaRPr lang="en-IN" dirty="0">
              <a:solidFill>
                <a:schemeClr val="tx1"/>
              </a:solidFill>
            </a:endParaRPr>
          </a:p>
        </p:txBody>
      </p:sp>
    </p:spTree>
    <p:extLst>
      <p:ext uri="{BB962C8B-B14F-4D97-AF65-F5344CB8AC3E}">
        <p14:creationId xmlns:p14="http://schemas.microsoft.com/office/powerpoint/2010/main" val="26936723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0BE7F-8655-9F44-74B5-4DECD569E7A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03C8544-E29C-8883-5AFC-245A724034EC}"/>
              </a:ext>
            </a:extLst>
          </p:cNvPr>
          <p:cNvSpPr>
            <a:spLocks noGrp="1"/>
          </p:cNvSpPr>
          <p:nvPr>
            <p:ph type="ctrTitle"/>
          </p:nvPr>
        </p:nvSpPr>
        <p:spPr>
          <a:xfrm>
            <a:off x="1194318" y="1803406"/>
            <a:ext cx="1446245" cy="463934"/>
          </a:xfrm>
        </p:spPr>
        <p:txBody>
          <a:bodyPr>
            <a:normAutofit/>
          </a:bodyPr>
          <a:lstStyle/>
          <a:p>
            <a:r>
              <a:rPr lang="en-US" sz="2400" b="1" u="sng" dirty="0">
                <a:solidFill>
                  <a:schemeClr val="tx1"/>
                </a:solidFill>
              </a:rPr>
              <a:t>G</a:t>
            </a:r>
            <a:r>
              <a:rPr lang="en-IN" sz="2400" b="1" u="sng" dirty="0">
                <a:solidFill>
                  <a:schemeClr val="tx1"/>
                </a:solidFill>
              </a:rPr>
              <a:t>OAL:</a:t>
            </a:r>
          </a:p>
        </p:txBody>
      </p:sp>
      <p:sp>
        <p:nvSpPr>
          <p:cNvPr id="19" name="Subtitle 18">
            <a:extLst>
              <a:ext uri="{FF2B5EF4-FFF2-40B4-BE49-F238E27FC236}">
                <a16:creationId xmlns:a16="http://schemas.microsoft.com/office/drawing/2014/main" id="{5EB1AF7E-DA94-CB2D-E2CC-D648613D9E0D}"/>
              </a:ext>
            </a:extLst>
          </p:cNvPr>
          <p:cNvSpPr>
            <a:spLocks noGrp="1"/>
          </p:cNvSpPr>
          <p:nvPr>
            <p:ph type="subTitle" idx="1"/>
          </p:nvPr>
        </p:nvSpPr>
        <p:spPr>
          <a:xfrm>
            <a:off x="1371600" y="2397966"/>
            <a:ext cx="8322906" cy="4460033"/>
          </a:xfrm>
        </p:spPr>
        <p:txBody>
          <a:bodyPr/>
          <a:lstStyle/>
          <a:p>
            <a:pPr algn="just">
              <a:buNone/>
            </a:pPr>
            <a:r>
              <a:rPr lang="en-US" dirty="0">
                <a:solidFill>
                  <a:schemeClr val="accent6"/>
                </a:solidFill>
              </a:rPr>
              <a:t>To </a:t>
            </a:r>
            <a:r>
              <a:rPr lang="en-US" b="1" dirty="0">
                <a:solidFill>
                  <a:schemeClr val="accent6"/>
                </a:solidFill>
              </a:rPr>
              <a:t>extract, clean, and analyze smartphone data</a:t>
            </a:r>
            <a:r>
              <a:rPr lang="en-US" dirty="0">
                <a:solidFill>
                  <a:schemeClr val="accent6"/>
                </a:solidFill>
              </a:rPr>
              <a:t> from Flipkart using Python-based EDA techniques and generate </a:t>
            </a:r>
            <a:r>
              <a:rPr lang="en-US" b="1" dirty="0">
                <a:solidFill>
                  <a:schemeClr val="accent6"/>
                </a:solidFill>
              </a:rPr>
              <a:t>meaningful insights</a:t>
            </a:r>
            <a:r>
              <a:rPr lang="en-US" dirty="0">
                <a:solidFill>
                  <a:schemeClr val="accent6"/>
                </a:solidFill>
              </a:rPr>
              <a:t> on:</a:t>
            </a:r>
          </a:p>
          <a:p>
            <a:pPr marL="285750" indent="-285750" algn="just">
              <a:buFont typeface="Wingdings" panose="05000000000000000000" pitchFamily="2" charset="2"/>
              <a:buChar char="v"/>
            </a:pPr>
            <a:r>
              <a:rPr lang="en-US" dirty="0">
                <a:solidFill>
                  <a:schemeClr val="tx1"/>
                </a:solidFill>
              </a:rPr>
              <a:t>How different specifications (RAM, camera, battery, processor, etc.) affect pricing.</a:t>
            </a:r>
          </a:p>
          <a:p>
            <a:pPr marL="285750" indent="-285750" algn="just">
              <a:buFont typeface="Wingdings" panose="05000000000000000000" pitchFamily="2" charset="2"/>
              <a:buChar char="v"/>
            </a:pPr>
            <a:r>
              <a:rPr lang="en-US" dirty="0">
                <a:solidFill>
                  <a:schemeClr val="tx1"/>
                </a:solidFill>
              </a:rPr>
              <a:t>Which brands receive </a:t>
            </a:r>
            <a:r>
              <a:rPr lang="en-US" b="1" dirty="0">
                <a:solidFill>
                  <a:schemeClr val="tx1"/>
                </a:solidFill>
              </a:rPr>
              <a:t>higher ratings and reviews</a:t>
            </a:r>
            <a:r>
              <a:rPr lang="en-US" dirty="0">
                <a:solidFill>
                  <a:schemeClr val="tx1"/>
                </a:solidFill>
              </a:rPr>
              <a:t>.</a:t>
            </a:r>
          </a:p>
          <a:p>
            <a:pPr marL="285750" indent="-285750" algn="just">
              <a:buFont typeface="Wingdings" panose="05000000000000000000" pitchFamily="2" charset="2"/>
              <a:buChar char="v"/>
            </a:pPr>
            <a:r>
              <a:rPr lang="en-US" dirty="0">
                <a:solidFill>
                  <a:schemeClr val="tx1"/>
                </a:solidFill>
              </a:rPr>
              <a:t>Identifying </a:t>
            </a:r>
            <a:r>
              <a:rPr lang="en-US" b="1" dirty="0">
                <a:solidFill>
                  <a:schemeClr val="tx1"/>
                </a:solidFill>
              </a:rPr>
              <a:t>patterns and correlations</a:t>
            </a:r>
            <a:r>
              <a:rPr lang="en-US" dirty="0">
                <a:solidFill>
                  <a:schemeClr val="tx1"/>
                </a:solidFill>
              </a:rPr>
              <a:t> between technical features and customer satisfaction.</a:t>
            </a:r>
          </a:p>
          <a:p>
            <a:pPr marL="285750" indent="-285750" algn="just">
              <a:buFont typeface="Wingdings" panose="05000000000000000000" pitchFamily="2" charset="2"/>
              <a:buChar char="v"/>
            </a:pPr>
            <a:r>
              <a:rPr lang="en-US" dirty="0">
                <a:solidFill>
                  <a:schemeClr val="tx1"/>
                </a:solidFill>
              </a:rPr>
              <a:t>Providing </a:t>
            </a:r>
            <a:r>
              <a:rPr lang="en-US" b="1" dirty="0">
                <a:solidFill>
                  <a:schemeClr val="tx1"/>
                </a:solidFill>
              </a:rPr>
              <a:t>actionable insights</a:t>
            </a:r>
            <a:r>
              <a:rPr lang="en-US" dirty="0">
                <a:solidFill>
                  <a:schemeClr val="tx1"/>
                </a:solidFill>
              </a:rPr>
              <a:t> for both </a:t>
            </a:r>
            <a:r>
              <a:rPr lang="en-US" b="1" dirty="0">
                <a:solidFill>
                  <a:schemeClr val="tx1"/>
                </a:solidFill>
              </a:rPr>
              <a:t>buyers</a:t>
            </a:r>
            <a:r>
              <a:rPr lang="en-US" dirty="0">
                <a:solidFill>
                  <a:schemeClr val="tx1"/>
                </a:solidFill>
              </a:rPr>
              <a:t> (to make better purchasing decisions) and </a:t>
            </a:r>
            <a:r>
              <a:rPr lang="en-US" b="1" dirty="0">
                <a:solidFill>
                  <a:schemeClr val="tx1"/>
                </a:solidFill>
              </a:rPr>
              <a:t>brands</a:t>
            </a:r>
            <a:r>
              <a:rPr lang="en-US" dirty="0">
                <a:solidFill>
                  <a:schemeClr val="tx1"/>
                </a:solidFill>
              </a:rPr>
              <a:t> (to align product strategies with market trends).</a:t>
            </a:r>
          </a:p>
        </p:txBody>
      </p:sp>
    </p:spTree>
    <p:extLst>
      <p:ext uri="{BB962C8B-B14F-4D97-AF65-F5344CB8AC3E}">
        <p14:creationId xmlns:p14="http://schemas.microsoft.com/office/powerpoint/2010/main" val="640544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3C38C-8C00-D2AF-8E91-2C407EE8217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806B6BE-2657-015E-A784-475AC84CB646}"/>
              </a:ext>
            </a:extLst>
          </p:cNvPr>
          <p:cNvSpPr>
            <a:spLocks noGrp="1"/>
          </p:cNvSpPr>
          <p:nvPr>
            <p:ph type="ctrTitle"/>
          </p:nvPr>
        </p:nvSpPr>
        <p:spPr>
          <a:xfrm>
            <a:off x="1194317" y="1250303"/>
            <a:ext cx="3816221" cy="821094"/>
          </a:xfrm>
        </p:spPr>
        <p:txBody>
          <a:bodyPr>
            <a:normAutofit/>
          </a:bodyPr>
          <a:lstStyle/>
          <a:p>
            <a:r>
              <a:rPr lang="en-IN" sz="2400" b="1" u="sng" dirty="0">
                <a:solidFill>
                  <a:srgbClr val="FF0000"/>
                </a:solidFill>
              </a:rPr>
              <a:t>Objectives of the Project</a:t>
            </a:r>
          </a:p>
        </p:txBody>
      </p:sp>
      <p:sp>
        <p:nvSpPr>
          <p:cNvPr id="19" name="Subtitle 18">
            <a:extLst>
              <a:ext uri="{FF2B5EF4-FFF2-40B4-BE49-F238E27FC236}">
                <a16:creationId xmlns:a16="http://schemas.microsoft.com/office/drawing/2014/main" id="{DE99CA60-758C-4119-1038-8678D4F70CC7}"/>
              </a:ext>
            </a:extLst>
          </p:cNvPr>
          <p:cNvSpPr>
            <a:spLocks noGrp="1"/>
          </p:cNvSpPr>
          <p:nvPr>
            <p:ph type="subTitle" idx="1"/>
          </p:nvPr>
        </p:nvSpPr>
        <p:spPr>
          <a:xfrm>
            <a:off x="1343608" y="2071398"/>
            <a:ext cx="8350898" cy="4786602"/>
          </a:xfrm>
        </p:spPr>
        <p:txBody>
          <a:bodyPr/>
          <a:lstStyle/>
          <a:p>
            <a:pPr marL="285750" indent="-285750" algn="just">
              <a:buFont typeface="Wingdings" panose="05000000000000000000" pitchFamily="2" charset="2"/>
              <a:buChar char="v"/>
            </a:pPr>
            <a:r>
              <a:rPr lang="en-US" sz="2000" dirty="0">
                <a:solidFill>
                  <a:schemeClr val="tx1"/>
                </a:solidFill>
              </a:rPr>
              <a:t>To Scrape the real-world ecommerce data from Flipkart website.</a:t>
            </a:r>
          </a:p>
          <a:p>
            <a:pPr marL="285750" lvl="0" indent="-285750" algn="just" defTabSz="914400" eaLnBrk="0" fontAlgn="base" hangingPunct="0">
              <a:spcBef>
                <a:spcPct val="0"/>
              </a:spcBef>
              <a:spcAft>
                <a:spcPct val="0"/>
              </a:spcAft>
              <a:buClrTx/>
              <a:buSzTx/>
              <a:buFont typeface="Wingdings" panose="05000000000000000000" pitchFamily="2" charset="2"/>
              <a:buChar char="v"/>
            </a:pPr>
            <a:r>
              <a:rPr lang="en-US" altLang="en-US" sz="2000" dirty="0">
                <a:solidFill>
                  <a:schemeClr val="tx1"/>
                </a:solidFill>
                <a:latin typeface="Arial" panose="020B0604020202020204" pitchFamily="34" charset="0"/>
              </a:rPr>
              <a:t>To </a:t>
            </a:r>
            <a:r>
              <a:rPr lang="en-US" altLang="en-US" sz="2000" b="1" dirty="0">
                <a:solidFill>
                  <a:schemeClr val="tx1"/>
                </a:solidFill>
                <a:latin typeface="Arial" panose="020B0604020202020204" pitchFamily="34" charset="0"/>
              </a:rPr>
              <a:t>clean and preprocess</a:t>
            </a:r>
            <a:r>
              <a:rPr lang="en-US" altLang="en-US" sz="2000" dirty="0">
                <a:solidFill>
                  <a:schemeClr val="tx1"/>
                </a:solidFill>
                <a:latin typeface="Arial" panose="020B0604020202020204" pitchFamily="34" charset="0"/>
              </a:rPr>
              <a:t> the raw scraped data for accurate analysis.</a:t>
            </a:r>
          </a:p>
          <a:p>
            <a:pPr marL="285750" lvl="0" indent="-285750" algn="just" defTabSz="914400" eaLnBrk="0" fontAlgn="base" hangingPunct="0">
              <a:spcBef>
                <a:spcPct val="0"/>
              </a:spcBef>
              <a:spcAft>
                <a:spcPct val="0"/>
              </a:spcAft>
              <a:buClrTx/>
              <a:buSzTx/>
              <a:buFont typeface="Wingdings" panose="05000000000000000000" pitchFamily="2" charset="2"/>
              <a:buChar char="v"/>
            </a:pPr>
            <a:r>
              <a:rPr lang="en-US" altLang="en-US" sz="2000" dirty="0">
                <a:solidFill>
                  <a:schemeClr val="tx1"/>
                </a:solidFill>
                <a:latin typeface="Arial" panose="020B0604020202020204" pitchFamily="34" charset="0"/>
              </a:rPr>
              <a:t>To perform </a:t>
            </a:r>
            <a:r>
              <a:rPr lang="en-US" altLang="en-US" sz="2000" b="1" dirty="0">
                <a:solidFill>
                  <a:schemeClr val="tx1"/>
                </a:solidFill>
                <a:latin typeface="Arial" panose="020B0604020202020204" pitchFamily="34" charset="0"/>
              </a:rPr>
              <a:t>univariate, bivariate, and multivariate analysis</a:t>
            </a:r>
            <a:r>
              <a:rPr lang="en-US" altLang="en-US" sz="2000" dirty="0">
                <a:solidFill>
                  <a:schemeClr val="tx1"/>
                </a:solidFill>
                <a:latin typeface="Arial" panose="020B0604020202020204" pitchFamily="34" charset="0"/>
              </a:rPr>
              <a:t> for discovering hidden patterns.</a:t>
            </a:r>
          </a:p>
          <a:p>
            <a:pPr marL="285750" lvl="0" indent="-285750" algn="just" defTabSz="914400" eaLnBrk="0" fontAlgn="base" hangingPunct="0">
              <a:spcBef>
                <a:spcPct val="0"/>
              </a:spcBef>
              <a:spcAft>
                <a:spcPct val="0"/>
              </a:spcAft>
              <a:buClrTx/>
              <a:buSzTx/>
              <a:buFont typeface="Wingdings" panose="05000000000000000000" pitchFamily="2" charset="2"/>
              <a:buChar char="v"/>
            </a:pPr>
            <a:r>
              <a:rPr lang="en-US" altLang="en-US" sz="2000" dirty="0">
                <a:solidFill>
                  <a:schemeClr val="tx1"/>
                </a:solidFill>
                <a:latin typeface="Arial" panose="020B0604020202020204" pitchFamily="34" charset="0"/>
              </a:rPr>
              <a:t>To identify </a:t>
            </a:r>
            <a:r>
              <a:rPr lang="en-US" altLang="en-US" sz="2000" b="1" dirty="0">
                <a:solidFill>
                  <a:schemeClr val="tx1"/>
                </a:solidFill>
                <a:latin typeface="Arial" panose="020B0604020202020204" pitchFamily="34" charset="0"/>
              </a:rPr>
              <a:t>key factors affecting mobile prices</a:t>
            </a:r>
            <a:r>
              <a:rPr lang="en-US" altLang="en-US" sz="2000" dirty="0">
                <a:solidFill>
                  <a:schemeClr val="tx1"/>
                </a:solidFill>
                <a:latin typeface="Arial" panose="020B0604020202020204" pitchFamily="34" charset="0"/>
              </a:rPr>
              <a:t> and </a:t>
            </a:r>
            <a:r>
              <a:rPr lang="en-US" altLang="en-US" sz="2000" b="1" dirty="0">
                <a:solidFill>
                  <a:schemeClr val="tx1"/>
                </a:solidFill>
                <a:latin typeface="Arial" panose="020B0604020202020204" pitchFamily="34" charset="0"/>
              </a:rPr>
              <a:t>customer satisfaction</a:t>
            </a:r>
            <a:r>
              <a:rPr lang="en-US" altLang="en-US" sz="2000" dirty="0">
                <a:solidFill>
                  <a:schemeClr val="tx1"/>
                </a:solidFill>
                <a:latin typeface="Arial" panose="020B0604020202020204" pitchFamily="34" charset="0"/>
              </a:rPr>
              <a:t>.</a:t>
            </a:r>
          </a:p>
          <a:p>
            <a:pPr marL="285750" lvl="0" indent="-285750" algn="just" defTabSz="914400" eaLnBrk="0" fontAlgn="base" hangingPunct="0">
              <a:spcBef>
                <a:spcPct val="0"/>
              </a:spcBef>
              <a:spcAft>
                <a:spcPct val="0"/>
              </a:spcAft>
              <a:buClrTx/>
              <a:buSzTx/>
              <a:buFont typeface="Wingdings" panose="05000000000000000000" pitchFamily="2" charset="2"/>
              <a:buChar char="v"/>
            </a:pPr>
            <a:r>
              <a:rPr lang="en-US" altLang="en-US" sz="2000" dirty="0">
                <a:solidFill>
                  <a:schemeClr val="tx1"/>
                </a:solidFill>
                <a:latin typeface="Arial" panose="020B0604020202020204" pitchFamily="34" charset="0"/>
              </a:rPr>
              <a:t>To visualize relationships among important features using </a:t>
            </a:r>
            <a:r>
              <a:rPr lang="en-US" altLang="en-US" sz="2000" b="1" dirty="0">
                <a:solidFill>
                  <a:schemeClr val="tx1"/>
                </a:solidFill>
                <a:latin typeface="Arial" panose="020B0604020202020204" pitchFamily="34" charset="0"/>
              </a:rPr>
              <a:t>Seaborn</a:t>
            </a:r>
            <a:r>
              <a:rPr lang="en-US" altLang="en-US" sz="2000" dirty="0">
                <a:solidFill>
                  <a:schemeClr val="tx1"/>
                </a:solidFill>
                <a:latin typeface="Arial" panose="020B0604020202020204" pitchFamily="34" charset="0"/>
              </a:rPr>
              <a:t> and </a:t>
            </a:r>
            <a:r>
              <a:rPr lang="en-US" altLang="en-US" sz="2000" b="1" dirty="0">
                <a:solidFill>
                  <a:schemeClr val="tx1"/>
                </a:solidFill>
                <a:latin typeface="Arial" panose="020B0604020202020204" pitchFamily="34" charset="0"/>
              </a:rPr>
              <a:t>Matplotlib</a:t>
            </a:r>
            <a:r>
              <a:rPr lang="en-US" altLang="en-US" sz="2000" dirty="0">
                <a:solidFill>
                  <a:schemeClr val="tx1"/>
                </a:solidFill>
                <a:latin typeface="Arial" panose="020B0604020202020204" pitchFamily="34" charset="0"/>
              </a:rPr>
              <a:t>.</a:t>
            </a:r>
          </a:p>
          <a:p>
            <a:pPr marL="285750" lvl="0" indent="-285750" algn="just" defTabSz="914400" eaLnBrk="0" fontAlgn="base" hangingPunct="0">
              <a:spcBef>
                <a:spcPct val="0"/>
              </a:spcBef>
              <a:spcAft>
                <a:spcPct val="0"/>
              </a:spcAft>
              <a:buClrTx/>
              <a:buSzTx/>
              <a:buFont typeface="Wingdings" panose="05000000000000000000" pitchFamily="2" charset="2"/>
              <a:buChar char="v"/>
            </a:pPr>
            <a:r>
              <a:rPr lang="en-US" altLang="en-US" sz="2000" dirty="0">
                <a:solidFill>
                  <a:schemeClr val="tx1"/>
                </a:solidFill>
                <a:latin typeface="Arial" panose="020B0604020202020204" pitchFamily="34" charset="0"/>
              </a:rPr>
              <a:t>To draw </a:t>
            </a:r>
            <a:r>
              <a:rPr lang="en-US" altLang="en-US" sz="2000" b="1" dirty="0">
                <a:solidFill>
                  <a:schemeClr val="tx1"/>
                </a:solidFill>
                <a:latin typeface="Arial" panose="020B0604020202020204" pitchFamily="34" charset="0"/>
              </a:rPr>
              <a:t>business insights and actionable conclusions</a:t>
            </a:r>
            <a:r>
              <a:rPr lang="en-US" altLang="en-US" sz="2000" dirty="0">
                <a:solidFill>
                  <a:schemeClr val="tx1"/>
                </a:solidFill>
                <a:latin typeface="Arial" panose="020B0604020202020204" pitchFamily="34" charset="0"/>
              </a:rPr>
              <a:t> from the EDA visualization results.</a:t>
            </a:r>
          </a:p>
          <a:p>
            <a:pPr algn="just">
              <a:buNone/>
            </a:pPr>
            <a:endParaRPr lang="en-US" dirty="0">
              <a:solidFill>
                <a:schemeClr val="tx1"/>
              </a:solidFill>
            </a:endParaRPr>
          </a:p>
        </p:txBody>
      </p:sp>
    </p:spTree>
    <p:extLst>
      <p:ext uri="{BB962C8B-B14F-4D97-AF65-F5344CB8AC3E}">
        <p14:creationId xmlns:p14="http://schemas.microsoft.com/office/powerpoint/2010/main" val="4005043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BEC45-197A-194B-72BD-51B16DD5BEBE}"/>
              </a:ext>
            </a:extLst>
          </p:cNvPr>
          <p:cNvSpPr>
            <a:spLocks noGrp="1"/>
          </p:cNvSpPr>
          <p:nvPr>
            <p:ph type="ctrTitle"/>
          </p:nvPr>
        </p:nvSpPr>
        <p:spPr>
          <a:xfrm>
            <a:off x="1399592" y="998376"/>
            <a:ext cx="3013788" cy="905069"/>
          </a:xfrm>
        </p:spPr>
        <p:txBody>
          <a:bodyPr/>
          <a:lstStyle/>
          <a:p>
            <a:r>
              <a:rPr lang="en-US" sz="2000" b="1" u="sng" dirty="0">
                <a:solidFill>
                  <a:schemeClr val="tx1"/>
                </a:solidFill>
              </a:rPr>
              <a:t>Web scrapping process</a:t>
            </a:r>
            <a:endParaRPr lang="en-IN" sz="2000" b="1" u="sng" dirty="0">
              <a:solidFill>
                <a:schemeClr val="tx1"/>
              </a:solidFill>
            </a:endParaRPr>
          </a:p>
        </p:txBody>
      </p:sp>
      <p:sp>
        <p:nvSpPr>
          <p:cNvPr id="3" name="Subtitle 2">
            <a:extLst>
              <a:ext uri="{FF2B5EF4-FFF2-40B4-BE49-F238E27FC236}">
                <a16:creationId xmlns:a16="http://schemas.microsoft.com/office/drawing/2014/main" id="{3C8DB407-5FF0-0145-A45B-8FD430B58358}"/>
              </a:ext>
            </a:extLst>
          </p:cNvPr>
          <p:cNvSpPr>
            <a:spLocks noGrp="1"/>
          </p:cNvSpPr>
          <p:nvPr>
            <p:ph type="subTitle" idx="1"/>
          </p:nvPr>
        </p:nvSpPr>
        <p:spPr>
          <a:xfrm>
            <a:off x="1268963" y="2080727"/>
            <a:ext cx="8005040" cy="3067005"/>
          </a:xfrm>
        </p:spPr>
        <p:txBody>
          <a:bodyPr>
            <a:normAutofit/>
          </a:bodyPr>
          <a:lstStyle/>
          <a:p>
            <a:pPr algn="just"/>
            <a:r>
              <a:rPr lang="en-US" dirty="0">
                <a:solidFill>
                  <a:schemeClr val="tx1"/>
                </a:solidFill>
              </a:rPr>
              <a:t>Website: FLIPKART.COM</a:t>
            </a:r>
          </a:p>
          <a:p>
            <a:pPr algn="just"/>
            <a:r>
              <a:rPr lang="en-US" dirty="0">
                <a:solidFill>
                  <a:schemeClr val="tx1"/>
                </a:solidFill>
              </a:rPr>
              <a:t>Tools used: </a:t>
            </a:r>
            <a:r>
              <a:rPr lang="en-IN" dirty="0">
                <a:solidFill>
                  <a:schemeClr val="tx1"/>
                </a:solidFill>
              </a:rPr>
              <a:t>Python ,</a:t>
            </a:r>
            <a:r>
              <a:rPr lang="en-IN" dirty="0" err="1">
                <a:solidFill>
                  <a:schemeClr val="tx1"/>
                </a:solidFill>
              </a:rPr>
              <a:t>BeautifulSoup</a:t>
            </a:r>
            <a:r>
              <a:rPr lang="en-IN" dirty="0">
                <a:solidFill>
                  <a:schemeClr val="tx1"/>
                </a:solidFill>
              </a:rPr>
              <a:t> , Requests , Pandas.</a:t>
            </a:r>
          </a:p>
          <a:p>
            <a:pPr algn="just"/>
            <a:r>
              <a:rPr lang="en-IN" b="1" dirty="0">
                <a:solidFill>
                  <a:schemeClr val="tx1"/>
                </a:solidFill>
              </a:rPr>
              <a:t>Steps Followed</a:t>
            </a:r>
          </a:p>
          <a:p>
            <a:pPr marL="285750" indent="-285750" algn="just">
              <a:buFont typeface="Wingdings" panose="05000000000000000000" pitchFamily="2" charset="2"/>
              <a:buChar char="v"/>
            </a:pPr>
            <a:r>
              <a:rPr lang="en-IN" dirty="0">
                <a:solidFill>
                  <a:schemeClr val="tx1"/>
                </a:solidFill>
              </a:rPr>
              <a:t>Fetched multiple pages using </a:t>
            </a:r>
            <a:r>
              <a:rPr lang="en-IN" b="1" dirty="0">
                <a:solidFill>
                  <a:schemeClr val="tx1"/>
                </a:solidFill>
              </a:rPr>
              <a:t>Requests</a:t>
            </a:r>
            <a:r>
              <a:rPr lang="en-IN" dirty="0">
                <a:solidFill>
                  <a:schemeClr val="tx1"/>
                </a:solidFill>
              </a:rPr>
              <a:t>.</a:t>
            </a:r>
          </a:p>
          <a:p>
            <a:pPr marL="285750" indent="-285750" algn="just">
              <a:buFont typeface="Wingdings" panose="05000000000000000000" pitchFamily="2" charset="2"/>
              <a:buChar char="v"/>
            </a:pPr>
            <a:r>
              <a:rPr lang="en-IN" dirty="0">
                <a:solidFill>
                  <a:schemeClr val="tx1"/>
                </a:solidFill>
              </a:rPr>
              <a:t>Parsed HTML content using </a:t>
            </a:r>
            <a:r>
              <a:rPr lang="en-IN" b="1" dirty="0">
                <a:solidFill>
                  <a:schemeClr val="tx1"/>
                </a:solidFill>
              </a:rPr>
              <a:t>Beautiful Soup</a:t>
            </a:r>
            <a:r>
              <a:rPr lang="en-IN" dirty="0">
                <a:solidFill>
                  <a:schemeClr val="tx1"/>
                </a:solidFill>
              </a:rPr>
              <a:t>.</a:t>
            </a:r>
          </a:p>
          <a:p>
            <a:pPr marL="285750" indent="-285750" algn="just">
              <a:buFont typeface="Wingdings" panose="05000000000000000000" pitchFamily="2" charset="2"/>
              <a:buChar char="v"/>
            </a:pPr>
            <a:r>
              <a:rPr lang="en-IN" dirty="0">
                <a:solidFill>
                  <a:schemeClr val="tx1"/>
                </a:solidFill>
              </a:rPr>
              <a:t>Stored data in a </a:t>
            </a:r>
            <a:r>
              <a:rPr lang="en-IN" b="1" dirty="0">
                <a:solidFill>
                  <a:schemeClr val="tx1"/>
                </a:solidFill>
              </a:rPr>
              <a:t>Pandas Data Frame</a:t>
            </a:r>
            <a:r>
              <a:rPr lang="en-IN" dirty="0">
                <a:solidFill>
                  <a:schemeClr val="tx1"/>
                </a:solidFill>
              </a:rPr>
              <a:t>.</a:t>
            </a:r>
          </a:p>
          <a:p>
            <a:pPr marL="285750" indent="-285750" algn="just">
              <a:buFont typeface="Wingdings" panose="05000000000000000000" pitchFamily="2" charset="2"/>
              <a:buChar char="v"/>
            </a:pPr>
            <a:r>
              <a:rPr lang="en-IN" dirty="0">
                <a:solidFill>
                  <a:schemeClr val="tx1"/>
                </a:solidFill>
              </a:rPr>
              <a:t>Exported the cleaned dataset to </a:t>
            </a:r>
            <a:r>
              <a:rPr lang="en-IN" b="1" dirty="0">
                <a:solidFill>
                  <a:schemeClr val="tx1"/>
                </a:solidFill>
              </a:rPr>
              <a:t>CSV format</a:t>
            </a:r>
            <a:r>
              <a:rPr lang="en-IN" dirty="0">
                <a:solidFill>
                  <a:schemeClr val="tx1"/>
                </a:solidFill>
              </a:rPr>
              <a:t> for further analysis.</a:t>
            </a:r>
          </a:p>
          <a:p>
            <a:pPr marL="285750" indent="-285750" algn="just">
              <a:buFont typeface="Wingdings" panose="05000000000000000000" pitchFamily="2" charset="2"/>
              <a:buChar char="v"/>
            </a:pPr>
            <a:endParaRPr lang="en-IN" dirty="0">
              <a:solidFill>
                <a:schemeClr val="tx1"/>
              </a:solidFill>
            </a:endParaRPr>
          </a:p>
          <a:p>
            <a:pPr marL="285750" indent="-285750" algn="just">
              <a:buFont typeface="Wingdings" panose="05000000000000000000" pitchFamily="2" charset="2"/>
              <a:buChar char="v"/>
            </a:pPr>
            <a:endParaRPr lang="en-US" dirty="0">
              <a:solidFill>
                <a:schemeClr val="tx1"/>
              </a:solidFill>
            </a:endParaRPr>
          </a:p>
          <a:p>
            <a:pPr algn="just"/>
            <a:endParaRPr lang="en-IN" dirty="0"/>
          </a:p>
        </p:txBody>
      </p:sp>
    </p:spTree>
    <p:extLst>
      <p:ext uri="{BB962C8B-B14F-4D97-AF65-F5344CB8AC3E}">
        <p14:creationId xmlns:p14="http://schemas.microsoft.com/office/powerpoint/2010/main" val="32605775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44A54-014D-2D73-1A8E-B339F1767FA8}"/>
              </a:ext>
            </a:extLst>
          </p:cNvPr>
          <p:cNvSpPr>
            <a:spLocks noGrp="1"/>
          </p:cNvSpPr>
          <p:nvPr>
            <p:ph type="title"/>
          </p:nvPr>
        </p:nvSpPr>
        <p:spPr>
          <a:xfrm>
            <a:off x="677334" y="609600"/>
            <a:ext cx="1244772" cy="360784"/>
          </a:xfrm>
        </p:spPr>
        <p:txBody>
          <a:bodyPr>
            <a:normAutofit/>
          </a:bodyPr>
          <a:lstStyle/>
          <a:p>
            <a:r>
              <a:rPr lang="en-US" sz="1600" b="1" u="sng" dirty="0">
                <a:solidFill>
                  <a:srgbClr val="00B050"/>
                </a:solidFill>
              </a:rPr>
              <a:t>CODE PART</a:t>
            </a:r>
            <a:endParaRPr lang="en-IN" sz="1600" b="1" u="sng" dirty="0">
              <a:solidFill>
                <a:srgbClr val="00B050"/>
              </a:solidFill>
            </a:endParaRPr>
          </a:p>
        </p:txBody>
      </p:sp>
      <p:pic>
        <p:nvPicPr>
          <p:cNvPr id="5" name="Content Placeholder 4">
            <a:extLst>
              <a:ext uri="{FF2B5EF4-FFF2-40B4-BE49-F238E27FC236}">
                <a16:creationId xmlns:a16="http://schemas.microsoft.com/office/drawing/2014/main" id="{721352B5-C070-FF9B-821A-646A08D57CE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1441" y="897898"/>
            <a:ext cx="9779596" cy="5501023"/>
          </a:xfrm>
        </p:spPr>
      </p:pic>
    </p:spTree>
    <p:extLst>
      <p:ext uri="{BB962C8B-B14F-4D97-AF65-F5344CB8AC3E}">
        <p14:creationId xmlns:p14="http://schemas.microsoft.com/office/powerpoint/2010/main" val="21209472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832B6-C61F-8984-A9B2-FACEC030B90A}"/>
              </a:ext>
            </a:extLst>
          </p:cNvPr>
          <p:cNvSpPr>
            <a:spLocks noGrp="1"/>
          </p:cNvSpPr>
          <p:nvPr>
            <p:ph type="title"/>
          </p:nvPr>
        </p:nvSpPr>
        <p:spPr>
          <a:xfrm>
            <a:off x="677334" y="1353027"/>
            <a:ext cx="3073572" cy="582123"/>
          </a:xfrm>
        </p:spPr>
        <p:txBody>
          <a:bodyPr>
            <a:normAutofit fontScale="90000"/>
          </a:bodyPr>
          <a:lstStyle/>
          <a:p>
            <a:r>
              <a:rPr lang="en-US" sz="1400" b="1" dirty="0"/>
              <a:t>Summary of Collected Mobile Data</a:t>
            </a:r>
            <a:br>
              <a:rPr lang="en-US" b="1" dirty="0"/>
            </a:br>
            <a:endParaRPr lang="en-IN" dirty="0"/>
          </a:p>
        </p:txBody>
      </p:sp>
      <p:pic>
        <p:nvPicPr>
          <p:cNvPr id="6" name="Content Placeholder 5">
            <a:extLst>
              <a:ext uri="{FF2B5EF4-FFF2-40B4-BE49-F238E27FC236}">
                <a16:creationId xmlns:a16="http://schemas.microsoft.com/office/drawing/2014/main" id="{3043EBDB-2FAC-D61B-138C-5B30F5AD97D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60913" y="1935150"/>
            <a:ext cx="4513262" cy="2686074"/>
          </a:xfrm>
        </p:spPr>
      </p:pic>
      <p:sp>
        <p:nvSpPr>
          <p:cNvPr id="4" name="Text Placeholder 3">
            <a:extLst>
              <a:ext uri="{FF2B5EF4-FFF2-40B4-BE49-F238E27FC236}">
                <a16:creationId xmlns:a16="http://schemas.microsoft.com/office/drawing/2014/main" id="{DB828B56-7CD7-2E74-16ED-959A9F254363}"/>
              </a:ext>
            </a:extLst>
          </p:cNvPr>
          <p:cNvSpPr>
            <a:spLocks noGrp="1"/>
          </p:cNvSpPr>
          <p:nvPr>
            <p:ph type="body" sz="half" idx="2"/>
          </p:nvPr>
        </p:nvSpPr>
        <p:spPr>
          <a:xfrm>
            <a:off x="677333" y="1782146"/>
            <a:ext cx="4083579" cy="3825551"/>
          </a:xfrm>
        </p:spPr>
        <p:txBody>
          <a:bodyPr>
            <a:normAutofit fontScale="92500" lnSpcReduction="20000"/>
          </a:bodyPr>
          <a:lstStyle/>
          <a:p>
            <a:r>
              <a:rPr lang="en-US" b="1" dirty="0"/>
              <a:t>Total Records:</a:t>
            </a:r>
            <a:r>
              <a:rPr lang="en-US" dirty="0"/>
              <a:t> 416</a:t>
            </a:r>
            <a:br>
              <a:rPr lang="en-US" dirty="0"/>
            </a:br>
            <a:r>
              <a:rPr lang="en-US" b="1" dirty="0"/>
              <a:t>Columns:</a:t>
            </a:r>
            <a:r>
              <a:rPr lang="en-US" dirty="0"/>
              <a:t> 15</a:t>
            </a:r>
          </a:p>
          <a:p>
            <a:r>
              <a:rPr lang="en-US" b="1" u="sng" dirty="0"/>
              <a:t>Features included:</a:t>
            </a:r>
          </a:p>
          <a:p>
            <a:r>
              <a:rPr lang="en-US" dirty="0"/>
              <a:t>Model, Color, Ram, Rom, Price, Brand, Processor, Guaranty for phone, Guaranty for accessories for months, Reviews, Ratings, Display size cm, Frant camera, Back camera, Battery.</a:t>
            </a:r>
          </a:p>
          <a:p>
            <a:r>
              <a:rPr lang="en-US" b="1" u="sng" dirty="0"/>
              <a:t>Insight:</a:t>
            </a:r>
          </a:p>
          <a:p>
            <a:pPr marL="285750" indent="-285750" algn="just">
              <a:buFont typeface="Wingdings" panose="05000000000000000000" pitchFamily="2" charset="2"/>
              <a:buChar char="q"/>
            </a:pPr>
            <a:r>
              <a:rPr lang="en-US" sz="1700" dirty="0"/>
              <a:t>The dataset contains detailed specifications </a:t>
            </a:r>
            <a:r>
              <a:rPr lang="en-US" sz="1700" b="1" u="sng" dirty="0">
                <a:solidFill>
                  <a:srgbClr val="FF0000"/>
                </a:solidFill>
              </a:rPr>
              <a:t>ORRSV</a:t>
            </a:r>
            <a:r>
              <a:rPr lang="en-US" sz="1700" dirty="0"/>
              <a:t> </a:t>
            </a:r>
            <a:r>
              <a:rPr lang="en-US" sz="1700" b="1" dirty="0"/>
              <a:t>smartphone models</a:t>
            </a:r>
            <a:r>
              <a:rPr lang="en-US" sz="1700" dirty="0"/>
              <a:t> listed on </a:t>
            </a:r>
            <a:r>
              <a:rPr lang="en-US" sz="1700" b="1" dirty="0"/>
              <a:t>Flipkart</a:t>
            </a:r>
            <a:r>
              <a:rPr lang="en-US" sz="1700" dirty="0"/>
              <a:t>.</a:t>
            </a:r>
          </a:p>
          <a:p>
            <a:pPr marL="285750" indent="-285750" algn="just">
              <a:buFont typeface="Wingdings" panose="05000000000000000000" pitchFamily="2" charset="2"/>
              <a:buChar char="q"/>
            </a:pPr>
            <a:r>
              <a:rPr lang="en-US" sz="1700" dirty="0"/>
              <a:t>It includes both </a:t>
            </a:r>
            <a:r>
              <a:rPr lang="en-US" sz="1700" b="1" dirty="0"/>
              <a:t>technical attributes</a:t>
            </a:r>
            <a:r>
              <a:rPr lang="en-US" sz="1700" dirty="0"/>
              <a:t> (RAM, battery, processor, camera) and </a:t>
            </a:r>
            <a:r>
              <a:rPr lang="en-US" sz="1700" b="1" dirty="0"/>
              <a:t>user engagement metrics</a:t>
            </a:r>
            <a:r>
              <a:rPr lang="en-US" sz="1700" dirty="0"/>
              <a:t> (ratings and reviews), providing a </a:t>
            </a:r>
            <a:r>
              <a:rPr lang="en-US" sz="1700" b="1" dirty="0"/>
              <a:t>comprehensive view of factors influencing smartphone pricing and popularity</a:t>
            </a:r>
            <a:r>
              <a:rPr lang="en-US" b="1" dirty="0"/>
              <a:t>.</a:t>
            </a:r>
            <a:endParaRPr lang="en-US" dirty="0"/>
          </a:p>
          <a:p>
            <a:endParaRPr lang="en-US" dirty="0"/>
          </a:p>
          <a:p>
            <a:endParaRPr lang="en-IN" dirty="0"/>
          </a:p>
        </p:txBody>
      </p:sp>
    </p:spTree>
    <p:extLst>
      <p:ext uri="{BB962C8B-B14F-4D97-AF65-F5344CB8AC3E}">
        <p14:creationId xmlns:p14="http://schemas.microsoft.com/office/powerpoint/2010/main" val="23828303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C08D6-141E-C849-33C0-79BC3BC50C41}"/>
              </a:ext>
            </a:extLst>
          </p:cNvPr>
          <p:cNvSpPr>
            <a:spLocks noGrp="1"/>
          </p:cNvSpPr>
          <p:nvPr>
            <p:ph type="ctrTitle"/>
          </p:nvPr>
        </p:nvSpPr>
        <p:spPr>
          <a:xfrm>
            <a:off x="1091682" y="811764"/>
            <a:ext cx="2612571" cy="597158"/>
          </a:xfrm>
        </p:spPr>
        <p:txBody>
          <a:bodyPr/>
          <a:lstStyle/>
          <a:p>
            <a:r>
              <a:rPr lang="en-IN" sz="2000" b="1" u="sng" dirty="0"/>
              <a:t>DATA </a:t>
            </a:r>
            <a:r>
              <a:rPr lang="en-IN" sz="2400" b="1" u="sng" dirty="0"/>
              <a:t>CLEANING</a:t>
            </a:r>
            <a:r>
              <a:rPr lang="en-IN" sz="2000" b="1" u="sng" dirty="0"/>
              <a:t> :</a:t>
            </a:r>
          </a:p>
        </p:txBody>
      </p:sp>
      <p:sp>
        <p:nvSpPr>
          <p:cNvPr id="4" name="Rectangle 1">
            <a:extLst>
              <a:ext uri="{FF2B5EF4-FFF2-40B4-BE49-F238E27FC236}">
                <a16:creationId xmlns:a16="http://schemas.microsoft.com/office/drawing/2014/main" id="{09DCC174-4168-82DF-4F30-FA4A3CE7C599}"/>
              </a:ext>
            </a:extLst>
          </p:cNvPr>
          <p:cNvSpPr>
            <a:spLocks noGrp="1" noChangeArrowheads="1"/>
          </p:cNvSpPr>
          <p:nvPr>
            <p:ph type="subTitle" idx="1"/>
          </p:nvPr>
        </p:nvSpPr>
        <p:spPr bwMode="auto">
          <a:xfrm>
            <a:off x="1399592" y="1645031"/>
            <a:ext cx="8640147"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Removed duplicate and irrelevant mobile entries.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Handled missing values in </a:t>
            </a:r>
            <a:r>
              <a:rPr kumimoji="0" lang="en-US" altLang="en-US" sz="2000" b="1" i="0" u="none" strike="noStrike" cap="none" normalizeH="0" baseline="0" dirty="0">
                <a:ln>
                  <a:noFill/>
                </a:ln>
                <a:solidFill>
                  <a:schemeClr val="tx1"/>
                </a:solidFill>
                <a:effectLst/>
                <a:latin typeface="Arial" panose="020B0604020202020204" pitchFamily="34" charset="0"/>
              </a:rPr>
              <a:t>Brand</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Processor</a:t>
            </a:r>
            <a:r>
              <a:rPr kumimoji="0" lang="en-US" altLang="en-US" sz="2000" b="0" i="0" u="none" strike="noStrike" cap="none" normalizeH="0" baseline="0" dirty="0">
                <a:ln>
                  <a:noFill/>
                </a:ln>
                <a:solidFill>
                  <a:schemeClr val="tx1"/>
                </a:solidFill>
                <a:effectLst/>
                <a:latin typeface="Arial" panose="020B0604020202020204" pitchFamily="34" charset="0"/>
              </a:rPr>
              <a:t>, and </a:t>
            </a:r>
            <a:r>
              <a:rPr kumimoji="0" lang="en-US" altLang="en-US" sz="2000" b="1" i="0" u="none" strike="noStrike" cap="none" normalizeH="0" baseline="0" dirty="0">
                <a:ln>
                  <a:noFill/>
                </a:ln>
                <a:solidFill>
                  <a:schemeClr val="tx1"/>
                </a:solidFill>
                <a:effectLst/>
                <a:latin typeface="Arial" panose="020B0604020202020204" pitchFamily="34" charset="0"/>
              </a:rPr>
              <a:t>Guaranty</a:t>
            </a:r>
            <a:r>
              <a:rPr kumimoji="0" lang="en-US" altLang="en-US" sz="2000" b="0" i="0" u="none" strike="noStrike" cap="none" normalizeH="0" baseline="0" dirty="0">
                <a:ln>
                  <a:noFill/>
                </a:ln>
                <a:solidFill>
                  <a:schemeClr val="tx1"/>
                </a:solidFill>
                <a:effectLst/>
                <a:latin typeface="Arial" panose="020B0604020202020204" pitchFamily="34" charset="0"/>
              </a:rPr>
              <a:t> columns.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Cleaned and standardized </a:t>
            </a:r>
            <a:r>
              <a:rPr kumimoji="0" lang="en-US" altLang="en-US" sz="2000" b="1" i="0" u="none" strike="noStrike" cap="none" normalizeH="0" baseline="0" dirty="0">
                <a:ln>
                  <a:noFill/>
                </a:ln>
                <a:solidFill>
                  <a:schemeClr val="tx1"/>
                </a:solidFill>
                <a:effectLst/>
                <a:latin typeface="Arial" panose="020B0604020202020204" pitchFamily="34" charset="0"/>
              </a:rPr>
              <a:t>Ratings</a:t>
            </a:r>
            <a:r>
              <a:rPr kumimoji="0" lang="en-US" altLang="en-US" sz="2000" b="0" i="0" u="none" strike="noStrike" cap="none" normalizeH="0" baseline="0" dirty="0">
                <a:ln>
                  <a:noFill/>
                </a:ln>
                <a:solidFill>
                  <a:schemeClr val="tx1"/>
                </a:solidFill>
                <a:effectLst/>
                <a:latin typeface="Arial" panose="020B0604020202020204" pitchFamily="34" charset="0"/>
              </a:rPr>
              <a:t> and </a:t>
            </a:r>
            <a:r>
              <a:rPr kumimoji="0" lang="en-US" altLang="en-US" sz="2000" b="1" i="0" u="none" strike="noStrike" cap="none" normalizeH="0" baseline="0" dirty="0">
                <a:ln>
                  <a:noFill/>
                </a:ln>
                <a:solidFill>
                  <a:schemeClr val="tx1"/>
                </a:solidFill>
                <a:effectLst/>
                <a:latin typeface="Arial" panose="020B0604020202020204" pitchFamily="34" charset="0"/>
              </a:rPr>
              <a:t>Reviews</a:t>
            </a:r>
            <a:r>
              <a:rPr kumimoji="0" lang="en-US" altLang="en-US" sz="2000" b="0" i="0" u="none" strike="noStrike" cap="none" normalizeH="0" baseline="0" dirty="0">
                <a:ln>
                  <a:noFill/>
                </a:ln>
                <a:solidFill>
                  <a:schemeClr val="tx1"/>
                </a:solidFill>
                <a:effectLst/>
                <a:latin typeface="Arial" panose="020B0604020202020204" pitchFamily="34" charset="0"/>
              </a:rPr>
              <a:t> by removing commas and converting them to integers.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Converted </a:t>
            </a:r>
            <a:r>
              <a:rPr kumimoji="0" lang="en-US" altLang="en-US" sz="2000" b="1" i="0" u="none" strike="noStrike" cap="none" normalizeH="0" baseline="0" dirty="0">
                <a:ln>
                  <a:noFill/>
                </a:ln>
                <a:solidFill>
                  <a:schemeClr val="tx1"/>
                </a:solidFill>
                <a:effectLst/>
                <a:latin typeface="Arial" panose="020B0604020202020204" pitchFamily="34" charset="0"/>
              </a:rPr>
              <a:t>Guaranty</a:t>
            </a:r>
            <a:r>
              <a:rPr kumimoji="0" lang="en-US" altLang="en-US" sz="2000" b="0" i="0" u="none" strike="noStrike" cap="none" normalizeH="0" baseline="0" dirty="0">
                <a:ln>
                  <a:noFill/>
                </a:ln>
                <a:solidFill>
                  <a:schemeClr val="tx1"/>
                </a:solidFill>
                <a:effectLst/>
                <a:latin typeface="Arial" panose="020B0604020202020204" pitchFamily="34" charset="0"/>
              </a:rPr>
              <a:t> periods into </a:t>
            </a:r>
            <a:r>
              <a:rPr kumimoji="0" lang="en-US" altLang="en-US" sz="2000" b="1" i="0" u="none" strike="noStrike" cap="none" normalizeH="0" baseline="0" dirty="0">
                <a:ln>
                  <a:noFill/>
                </a:ln>
                <a:solidFill>
                  <a:schemeClr val="tx1"/>
                </a:solidFill>
                <a:effectLst/>
                <a:latin typeface="Arial" panose="020B0604020202020204" pitchFamily="34" charset="0"/>
              </a:rPr>
              <a:t>months</a:t>
            </a:r>
            <a:r>
              <a:rPr kumimoji="0" lang="en-US" altLang="en-US" sz="2000" b="0" i="0" u="none" strike="noStrike" cap="none" normalizeH="0" baseline="0" dirty="0">
                <a:ln>
                  <a:noFill/>
                </a:ln>
                <a:solidFill>
                  <a:schemeClr val="tx1"/>
                </a:solidFill>
                <a:effectLst/>
                <a:latin typeface="Arial" panose="020B0604020202020204" pitchFamily="34" charset="0"/>
              </a:rPr>
              <a:t> for uniform comparison.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Formatted numeric columns such as </a:t>
            </a:r>
            <a:r>
              <a:rPr kumimoji="0" lang="en-US" altLang="en-US" sz="2000" b="1" i="0" u="none" strike="noStrike" cap="none" normalizeH="0" baseline="0" dirty="0">
                <a:ln>
                  <a:noFill/>
                </a:ln>
                <a:solidFill>
                  <a:schemeClr val="tx1"/>
                </a:solidFill>
                <a:effectLst/>
                <a:latin typeface="Arial" panose="020B0604020202020204" pitchFamily="34" charset="0"/>
              </a:rPr>
              <a:t>Price</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Battery</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RAM</a:t>
            </a:r>
            <a:r>
              <a:rPr kumimoji="0" lang="en-US" altLang="en-US" sz="2000" b="0" i="0" u="none" strike="noStrike" cap="none" normalizeH="0" baseline="0" dirty="0">
                <a:ln>
                  <a:noFill/>
                </a:ln>
                <a:solidFill>
                  <a:schemeClr val="tx1"/>
                </a:solidFill>
                <a:effectLst/>
                <a:latin typeface="Arial" panose="020B0604020202020204" pitchFamily="34" charset="0"/>
              </a:rPr>
              <a:t>, and </a:t>
            </a:r>
            <a:r>
              <a:rPr kumimoji="0" lang="en-US" altLang="en-US" sz="2000" b="1" i="0" u="none" strike="noStrike" cap="none" normalizeH="0" baseline="0" dirty="0">
                <a:ln>
                  <a:noFill/>
                </a:ln>
                <a:solidFill>
                  <a:schemeClr val="tx1"/>
                </a:solidFill>
                <a:effectLst/>
                <a:latin typeface="Arial" panose="020B0604020202020204" pitchFamily="34" charset="0"/>
              </a:rPr>
              <a:t>ROM</a:t>
            </a:r>
            <a:r>
              <a:rPr kumimoji="0" lang="en-US" altLang="en-US" sz="2000" b="0" i="0" u="none" strike="noStrike" cap="none" normalizeH="0" baseline="0" dirty="0">
                <a:ln>
                  <a:noFill/>
                </a:ln>
                <a:solidFill>
                  <a:schemeClr val="tx1"/>
                </a:solidFill>
                <a:effectLst/>
                <a:latin typeface="Arial" panose="020B0604020202020204" pitchFamily="34" charset="0"/>
              </a:rPr>
              <a:t> to proper data types.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Trimmed unwanted characters and spaces in text columns like </a:t>
            </a:r>
            <a:r>
              <a:rPr kumimoji="0" lang="en-US" altLang="en-US" sz="2000" b="1" i="0" u="none" strike="noStrike" cap="none" normalizeH="0" baseline="0" dirty="0">
                <a:ln>
                  <a:noFill/>
                </a:ln>
                <a:solidFill>
                  <a:schemeClr val="tx1"/>
                </a:solidFill>
                <a:effectLst/>
                <a:latin typeface="Arial" panose="020B0604020202020204" pitchFamily="34" charset="0"/>
              </a:rPr>
              <a:t>Processor</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Model</a:t>
            </a:r>
            <a:r>
              <a:rPr kumimoji="0" lang="en-US" altLang="en-US" sz="2000" b="0" i="0" u="none" strike="noStrike" cap="none" normalizeH="0" baseline="0" dirty="0">
                <a:ln>
                  <a:noFill/>
                </a:ln>
                <a:solidFill>
                  <a:schemeClr val="tx1"/>
                </a:solidFill>
                <a:effectLst/>
                <a:latin typeface="Arial" panose="020B0604020202020204" pitchFamily="34" charset="0"/>
              </a:rPr>
              <a:t>, and </a:t>
            </a:r>
            <a:r>
              <a:rPr kumimoji="0" lang="en-US" altLang="en-US" sz="2000" b="1" i="0" u="none" strike="noStrike" cap="none" normalizeH="0" baseline="0" dirty="0">
                <a:ln>
                  <a:noFill/>
                </a:ln>
                <a:solidFill>
                  <a:schemeClr val="tx1"/>
                </a:solidFill>
                <a:effectLst/>
                <a:latin typeface="Arial" panose="020B0604020202020204" pitchFamily="34" charset="0"/>
              </a:rPr>
              <a:t>Color</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sz="2000" dirty="0">
              <a:solidFill>
                <a:schemeClr val="tx1"/>
              </a:solidFill>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lang="en-US" altLang="en-US" sz="2000" dirty="0">
                <a:solidFill>
                  <a:schemeClr val="tx1"/>
                </a:solidFill>
                <a:latin typeface="Arial" panose="020B0604020202020204" pitchFamily="34" charset="0"/>
              </a:rPr>
              <a:t>Pont to be noted: As they are numerous entries of brand my project focuses on specific brands(</a:t>
            </a:r>
            <a:r>
              <a:rPr lang="en-US" altLang="en-US" sz="2000" b="1" u="sng" dirty="0">
                <a:solidFill>
                  <a:srgbClr val="FF0000"/>
                </a:solidFill>
                <a:latin typeface="Arial" panose="020B0604020202020204" pitchFamily="34" charset="0"/>
              </a:rPr>
              <a:t>ORRSV</a:t>
            </a:r>
            <a:r>
              <a:rPr lang="en-US" altLang="en-US" sz="2000" dirty="0">
                <a:solidFill>
                  <a:schemeClr val="tx1"/>
                </a:solidFill>
                <a:latin typeface="Arial" panose="020B0604020202020204" pitchFamily="34" charset="0"/>
              </a:rPr>
              <a:t>) based on the popular brand usage.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lang="en-US" altLang="en-US" sz="2000" b="1" u="sng" dirty="0">
                <a:solidFill>
                  <a:srgbClr val="FF0000"/>
                </a:solidFill>
                <a:latin typeface="Arial" panose="020B0604020202020204" pitchFamily="34" charset="0"/>
              </a:rPr>
              <a:t>ORRSV-</a:t>
            </a:r>
            <a:r>
              <a:rPr lang="en-US" altLang="en-US" sz="2000" dirty="0">
                <a:solidFill>
                  <a:schemeClr val="tx1"/>
                </a:solidFill>
                <a:latin typeface="Arial" panose="020B0604020202020204" pitchFamily="34" charset="0"/>
              </a:rPr>
              <a:t> Oppo, Redmi, Realme, Samsung, Vivo.</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827241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E3295F5-F553-8899-D8EC-4E566300A469}"/>
              </a:ext>
            </a:extLst>
          </p:cNvPr>
          <p:cNvSpPr>
            <a:spLocks noGrp="1"/>
          </p:cNvSpPr>
          <p:nvPr>
            <p:ph type="title"/>
          </p:nvPr>
        </p:nvSpPr>
        <p:spPr>
          <a:xfrm>
            <a:off x="737118" y="1082352"/>
            <a:ext cx="3794744" cy="625150"/>
          </a:xfrm>
        </p:spPr>
        <p:txBody>
          <a:bodyPr>
            <a:normAutofit fontScale="90000"/>
          </a:bodyPr>
          <a:lstStyle/>
          <a:p>
            <a:r>
              <a:rPr lang="en-US" b="1" u="sng" dirty="0">
                <a:solidFill>
                  <a:schemeClr val="tx1"/>
                </a:solidFill>
              </a:rPr>
              <a:t>Univariate Analysis(Categorical):</a:t>
            </a:r>
            <a:endParaRPr lang="en-IN" b="1" u="sng" dirty="0">
              <a:solidFill>
                <a:schemeClr val="tx1"/>
              </a:solidFill>
            </a:endParaRPr>
          </a:p>
        </p:txBody>
      </p:sp>
      <p:pic>
        <p:nvPicPr>
          <p:cNvPr id="8" name="Content Placeholder 7">
            <a:extLst>
              <a:ext uri="{FF2B5EF4-FFF2-40B4-BE49-F238E27FC236}">
                <a16:creationId xmlns:a16="http://schemas.microsoft.com/office/drawing/2014/main" id="{E703D525-E228-9430-728D-405162C9E38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60913" y="1252801"/>
            <a:ext cx="4513262" cy="4050772"/>
          </a:xfrm>
        </p:spPr>
      </p:pic>
      <p:sp>
        <p:nvSpPr>
          <p:cNvPr id="6" name="Text Placeholder 5">
            <a:extLst>
              <a:ext uri="{FF2B5EF4-FFF2-40B4-BE49-F238E27FC236}">
                <a16:creationId xmlns:a16="http://schemas.microsoft.com/office/drawing/2014/main" id="{B2831026-DEFE-2585-98BA-789DA1C22BDF}"/>
              </a:ext>
            </a:extLst>
          </p:cNvPr>
          <p:cNvSpPr>
            <a:spLocks noGrp="1"/>
          </p:cNvSpPr>
          <p:nvPr>
            <p:ph type="body" sz="half" idx="2"/>
          </p:nvPr>
        </p:nvSpPr>
        <p:spPr>
          <a:xfrm>
            <a:off x="643811" y="1968759"/>
            <a:ext cx="4040155" cy="3806889"/>
          </a:xfrm>
        </p:spPr>
        <p:txBody>
          <a:bodyPr/>
          <a:lstStyle/>
          <a:p>
            <a:pPr algn="just"/>
            <a:r>
              <a:rPr lang="en-US" b="1" u="sng" dirty="0">
                <a:solidFill>
                  <a:srgbClr val="FF0000"/>
                </a:solidFill>
              </a:rPr>
              <a:t>Analysis – Brand Distribution</a:t>
            </a:r>
          </a:p>
          <a:p>
            <a:pPr marL="285750" indent="-285750" algn="just">
              <a:buFont typeface="Wingdings" panose="05000000000000000000" pitchFamily="2" charset="2"/>
              <a:buChar char="v"/>
            </a:pPr>
            <a:r>
              <a:rPr lang="en-US" dirty="0"/>
              <a:t>The chart shows that </a:t>
            </a:r>
            <a:r>
              <a:rPr lang="en-US" b="1" dirty="0"/>
              <a:t>Realme</a:t>
            </a:r>
            <a:r>
              <a:rPr lang="en-US" dirty="0"/>
              <a:t> dominates the market with nearly </a:t>
            </a:r>
            <a:r>
              <a:rPr lang="en-US" b="1" dirty="0"/>
              <a:t>30% share</a:t>
            </a:r>
            <a:r>
              <a:rPr lang="en-US" dirty="0"/>
              <a:t>, followed by </a:t>
            </a:r>
            <a:r>
              <a:rPr lang="en-US" b="1" dirty="0"/>
              <a:t>Samsung</a:t>
            </a:r>
            <a:r>
              <a:rPr lang="en-US" dirty="0"/>
              <a:t> at around </a:t>
            </a:r>
            <a:r>
              <a:rPr lang="en-US" b="1" dirty="0"/>
              <a:t>23%</a:t>
            </a:r>
            <a:r>
              <a:rPr lang="en-US" dirty="0"/>
              <a:t>. </a:t>
            </a:r>
          </a:p>
          <a:p>
            <a:pPr marL="285750" indent="-285750" algn="just">
              <a:buFont typeface="Wingdings" panose="05000000000000000000" pitchFamily="2" charset="2"/>
              <a:buChar char="v"/>
            </a:pPr>
            <a:r>
              <a:rPr lang="en-US" b="1" dirty="0"/>
              <a:t>Vivo</a:t>
            </a:r>
            <a:r>
              <a:rPr lang="en-US" dirty="0"/>
              <a:t>, </a:t>
            </a:r>
            <a:r>
              <a:rPr lang="en-US" b="1" dirty="0"/>
              <a:t>Redmi</a:t>
            </a:r>
            <a:r>
              <a:rPr lang="en-US" dirty="0"/>
              <a:t>, and </a:t>
            </a:r>
            <a:r>
              <a:rPr lang="en-US" b="1" dirty="0"/>
              <a:t>Oppo</a:t>
            </a:r>
            <a:r>
              <a:rPr lang="en-US" dirty="0"/>
              <a:t> hold relatively smaller portions, ranging between </a:t>
            </a:r>
            <a:r>
              <a:rPr lang="en-US" b="1" dirty="0"/>
              <a:t>14%–17%</a:t>
            </a:r>
            <a:r>
              <a:rPr lang="en-US" dirty="0"/>
              <a:t> each. </a:t>
            </a:r>
          </a:p>
          <a:p>
            <a:pPr marL="285750" indent="-285750" algn="just">
              <a:buFont typeface="Wingdings" panose="05000000000000000000" pitchFamily="2" charset="2"/>
              <a:buChar char="v"/>
            </a:pPr>
            <a:r>
              <a:rPr lang="en-US" dirty="0"/>
              <a:t>This indicates that Realme and Samsung are the most preferred brands among customers, possibly due to their strong performance-to-price ratio and market presence.</a:t>
            </a:r>
          </a:p>
          <a:p>
            <a:endParaRPr lang="en-IN" dirty="0"/>
          </a:p>
        </p:txBody>
      </p:sp>
    </p:spTree>
    <p:extLst>
      <p:ext uri="{BB962C8B-B14F-4D97-AF65-F5344CB8AC3E}">
        <p14:creationId xmlns:p14="http://schemas.microsoft.com/office/powerpoint/2010/main" val="5549076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2FFE3-F437-83D8-8503-B5AE9A0023CC}"/>
              </a:ext>
            </a:extLst>
          </p:cNvPr>
          <p:cNvSpPr>
            <a:spLocks noGrp="1"/>
          </p:cNvSpPr>
          <p:nvPr>
            <p:ph type="ctrTitle"/>
          </p:nvPr>
        </p:nvSpPr>
        <p:spPr>
          <a:xfrm>
            <a:off x="1166327" y="429208"/>
            <a:ext cx="6046236" cy="765110"/>
          </a:xfrm>
        </p:spPr>
        <p:txBody>
          <a:bodyPr/>
          <a:lstStyle/>
          <a:p>
            <a:r>
              <a:rPr lang="en-US" sz="2400" b="1" u="sng" dirty="0"/>
              <a:t>Bivariate Analysis</a:t>
            </a:r>
            <a:br>
              <a:rPr lang="en-US" sz="2400" b="1" u="sng" dirty="0"/>
            </a:br>
            <a:endParaRPr lang="en-IN" sz="2400" u="sng" dirty="0"/>
          </a:p>
        </p:txBody>
      </p:sp>
      <p:sp>
        <p:nvSpPr>
          <p:cNvPr id="3" name="Subtitle 2">
            <a:extLst>
              <a:ext uri="{FF2B5EF4-FFF2-40B4-BE49-F238E27FC236}">
                <a16:creationId xmlns:a16="http://schemas.microsoft.com/office/drawing/2014/main" id="{8A7C2269-3F3E-A2B7-CD52-7745615F1874}"/>
              </a:ext>
            </a:extLst>
          </p:cNvPr>
          <p:cNvSpPr>
            <a:spLocks noGrp="1"/>
          </p:cNvSpPr>
          <p:nvPr>
            <p:ph type="subTitle" idx="1"/>
          </p:nvPr>
        </p:nvSpPr>
        <p:spPr>
          <a:xfrm>
            <a:off x="1166327" y="1539551"/>
            <a:ext cx="8107676" cy="3608181"/>
          </a:xfrm>
        </p:spPr>
        <p:txBody>
          <a:bodyPr>
            <a:normAutofit fontScale="92500" lnSpcReduction="20000"/>
          </a:bodyPr>
          <a:lstStyle/>
          <a:p>
            <a:pPr algn="just"/>
            <a:r>
              <a:rPr lang="en-US" b="1" u="sng" dirty="0">
                <a:solidFill>
                  <a:srgbClr val="FF0000"/>
                </a:solidFill>
              </a:rPr>
              <a:t>Plots Used:</a:t>
            </a:r>
          </a:p>
          <a:p>
            <a:pPr algn="just"/>
            <a:r>
              <a:rPr lang="en-US" b="1" dirty="0" err="1">
                <a:solidFill>
                  <a:schemeClr val="tx1"/>
                </a:solidFill>
              </a:rPr>
              <a:t>Barplot</a:t>
            </a:r>
            <a:r>
              <a:rPr lang="en-US" b="1" dirty="0">
                <a:solidFill>
                  <a:schemeClr val="tx1"/>
                </a:solidFill>
              </a:rPr>
              <a:t>, Scatter plot, Joint plot, Box plot, Violin plot, </a:t>
            </a:r>
            <a:r>
              <a:rPr lang="en-US" b="1" dirty="0" err="1">
                <a:solidFill>
                  <a:schemeClr val="tx1"/>
                </a:solidFill>
              </a:rPr>
              <a:t>Displot</a:t>
            </a:r>
            <a:r>
              <a:rPr lang="en-US" b="1" dirty="0">
                <a:solidFill>
                  <a:schemeClr val="tx1"/>
                </a:solidFill>
              </a:rPr>
              <a:t>.</a:t>
            </a:r>
          </a:p>
          <a:p>
            <a:pPr algn="just"/>
            <a:endParaRPr lang="en-US" dirty="0">
              <a:solidFill>
                <a:schemeClr val="tx1"/>
              </a:solidFill>
            </a:endParaRPr>
          </a:p>
          <a:p>
            <a:pPr algn="just"/>
            <a:r>
              <a:rPr lang="en-US" b="1" u="sng" dirty="0">
                <a:solidFill>
                  <a:srgbClr val="00B050"/>
                </a:solidFill>
              </a:rPr>
              <a:t>Insights</a:t>
            </a:r>
            <a:r>
              <a:rPr lang="en-US" b="1" dirty="0">
                <a:solidFill>
                  <a:schemeClr val="tx1"/>
                </a:solidFill>
              </a:rPr>
              <a:t>:</a:t>
            </a:r>
            <a:endParaRPr lang="en-US" dirty="0">
              <a:solidFill>
                <a:schemeClr val="tx1"/>
              </a:solidFill>
            </a:endParaRPr>
          </a:p>
          <a:p>
            <a:pPr algn="just"/>
            <a:r>
              <a:rPr lang="en-US" b="1" dirty="0">
                <a:solidFill>
                  <a:schemeClr val="tx1"/>
                </a:solidFill>
              </a:rPr>
              <a:t>Price</a:t>
            </a:r>
            <a:r>
              <a:rPr lang="en-US" dirty="0">
                <a:solidFill>
                  <a:schemeClr val="tx1"/>
                </a:solidFill>
              </a:rPr>
              <a:t> shows a moderate positive correlation with </a:t>
            </a:r>
            <a:r>
              <a:rPr lang="en-US" b="1" dirty="0">
                <a:solidFill>
                  <a:schemeClr val="tx1"/>
                </a:solidFill>
              </a:rPr>
              <a:t>RAM</a:t>
            </a:r>
            <a:r>
              <a:rPr lang="en-US" dirty="0">
                <a:solidFill>
                  <a:schemeClr val="tx1"/>
                </a:solidFill>
              </a:rPr>
              <a:t> and </a:t>
            </a:r>
            <a:r>
              <a:rPr lang="en-US" b="1" dirty="0">
                <a:solidFill>
                  <a:schemeClr val="tx1"/>
                </a:solidFill>
              </a:rPr>
              <a:t>ROM</a:t>
            </a:r>
            <a:r>
              <a:rPr lang="en-US" dirty="0">
                <a:solidFill>
                  <a:schemeClr val="tx1"/>
                </a:solidFill>
              </a:rPr>
              <a:t>, indicating higher memory configurations increase phone cost.</a:t>
            </a:r>
          </a:p>
          <a:p>
            <a:pPr algn="just"/>
            <a:r>
              <a:rPr lang="en-US" b="1" dirty="0">
                <a:solidFill>
                  <a:schemeClr val="tx1"/>
                </a:solidFill>
              </a:rPr>
              <a:t>Battery capacity</a:t>
            </a:r>
            <a:r>
              <a:rPr lang="en-US" dirty="0">
                <a:solidFill>
                  <a:schemeClr val="tx1"/>
                </a:solidFill>
              </a:rPr>
              <a:t> shows weak correlation with price — large batteries are available across all price ranges.</a:t>
            </a:r>
          </a:p>
          <a:p>
            <a:pPr algn="just"/>
            <a:r>
              <a:rPr lang="en-US" b="1" dirty="0">
                <a:solidFill>
                  <a:schemeClr val="tx1"/>
                </a:solidFill>
              </a:rPr>
              <a:t>Ratings</a:t>
            </a:r>
            <a:r>
              <a:rPr lang="en-US" dirty="0">
                <a:solidFill>
                  <a:schemeClr val="tx1"/>
                </a:solidFill>
              </a:rPr>
              <a:t> and </a:t>
            </a:r>
            <a:r>
              <a:rPr lang="en-US" b="1" dirty="0">
                <a:solidFill>
                  <a:schemeClr val="tx1"/>
                </a:solidFill>
              </a:rPr>
              <a:t>Reviews</a:t>
            </a:r>
            <a:r>
              <a:rPr lang="en-US" dirty="0">
                <a:solidFill>
                  <a:schemeClr val="tx1"/>
                </a:solidFill>
              </a:rPr>
              <a:t> are widely spread, showing customer engagement varies independently of price.</a:t>
            </a:r>
          </a:p>
          <a:p>
            <a:pPr algn="just"/>
            <a:r>
              <a:rPr lang="en-US" dirty="0">
                <a:solidFill>
                  <a:schemeClr val="tx1"/>
                </a:solidFill>
              </a:rPr>
              <a:t>Scatterplots confirm that </a:t>
            </a:r>
            <a:r>
              <a:rPr lang="en-US" b="1" dirty="0">
                <a:solidFill>
                  <a:schemeClr val="tx1"/>
                </a:solidFill>
              </a:rPr>
              <a:t>premium phones</a:t>
            </a:r>
            <a:r>
              <a:rPr lang="en-US" dirty="0">
                <a:solidFill>
                  <a:schemeClr val="tx1"/>
                </a:solidFill>
              </a:rPr>
              <a:t> generally have larger displays and higher RAM/ROM.</a:t>
            </a:r>
          </a:p>
          <a:p>
            <a:endParaRPr lang="en-IN" dirty="0"/>
          </a:p>
        </p:txBody>
      </p:sp>
    </p:spTree>
    <p:extLst>
      <p:ext uri="{BB962C8B-B14F-4D97-AF65-F5344CB8AC3E}">
        <p14:creationId xmlns:p14="http://schemas.microsoft.com/office/powerpoint/2010/main" val="40444768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7C0679-BD30-CDA0-9DDF-9BAA63BEA8D0}"/>
              </a:ext>
            </a:extLst>
          </p:cNvPr>
          <p:cNvSpPr>
            <a:spLocks noGrp="1"/>
          </p:cNvSpPr>
          <p:nvPr>
            <p:ph type="title"/>
          </p:nvPr>
        </p:nvSpPr>
        <p:spPr/>
        <p:txBody>
          <a:bodyPr>
            <a:normAutofit/>
          </a:bodyPr>
          <a:lstStyle/>
          <a:p>
            <a:r>
              <a:rPr lang="en-US" sz="1100" b="1" u="sng" dirty="0">
                <a:solidFill>
                  <a:srgbClr val="FF0000"/>
                </a:solidFill>
              </a:rPr>
              <a:t>BACK CAMERA COMBINATION ANALYSIS:</a:t>
            </a:r>
            <a:br>
              <a:rPr lang="en-US" sz="1100" b="1" u="sng" dirty="0">
                <a:solidFill>
                  <a:srgbClr val="FF0000"/>
                </a:solidFill>
              </a:rPr>
            </a:br>
            <a:br>
              <a:rPr lang="en-US" sz="1100" b="1" u="sng" dirty="0">
                <a:solidFill>
                  <a:srgbClr val="FF0000"/>
                </a:solidFill>
              </a:rPr>
            </a:br>
            <a:r>
              <a:rPr lang="en-US" sz="1100" dirty="0"/>
              <a:t>The analysis shows that </a:t>
            </a:r>
            <a:r>
              <a:rPr lang="en-US" sz="1100" b="1" dirty="0"/>
              <a:t>50MP camera setups</a:t>
            </a:r>
            <a:r>
              <a:rPr lang="en-US" sz="1100" dirty="0"/>
              <a:t> dominate across all major smartphone brands, especially combinations like </a:t>
            </a:r>
            <a:r>
              <a:rPr lang="en-US" sz="1100" b="1" dirty="0"/>
              <a:t>50MP + 2MP</a:t>
            </a:r>
            <a:r>
              <a:rPr lang="en-US" sz="1100" dirty="0"/>
              <a:t> and </a:t>
            </a:r>
            <a:r>
              <a:rPr lang="en-US" sz="1100" b="1" dirty="0"/>
              <a:t>50MP + 8MP</a:t>
            </a:r>
            <a:r>
              <a:rPr lang="en-US" sz="1100" dirty="0"/>
              <a:t>. </a:t>
            </a:r>
            <a:r>
              <a:rPr lang="en-US" sz="1100" b="1" dirty="0"/>
              <a:t>Realme</a:t>
            </a:r>
            <a:r>
              <a:rPr lang="en-US" sz="1100" dirty="0"/>
              <a:t> and </a:t>
            </a:r>
            <a:r>
              <a:rPr lang="en-US" sz="1100" b="1" dirty="0"/>
              <a:t>Samsung</a:t>
            </a:r>
            <a:r>
              <a:rPr lang="en-US" sz="1100" dirty="0"/>
              <a:t> lead in the number of models and variety of camera configurations, while </a:t>
            </a:r>
            <a:r>
              <a:rPr lang="en-US" sz="1100" b="1" dirty="0"/>
              <a:t>Oppo</a:t>
            </a:r>
            <a:r>
              <a:rPr lang="en-US" sz="1100" dirty="0"/>
              <a:t>, </a:t>
            </a:r>
            <a:r>
              <a:rPr lang="en-US" sz="1100" b="1" dirty="0"/>
              <a:t>Redmi</a:t>
            </a:r>
            <a:r>
              <a:rPr lang="en-US" sz="1100" dirty="0"/>
              <a:t>, and </a:t>
            </a:r>
            <a:r>
              <a:rPr lang="en-US" sz="1100" b="1" dirty="0"/>
              <a:t>Vivo</a:t>
            </a:r>
            <a:r>
              <a:rPr lang="en-US" sz="1100" dirty="0"/>
              <a:t> have fewer but focused options. Overall, brands are standardizing around </a:t>
            </a:r>
            <a:r>
              <a:rPr lang="en-US" sz="1100" b="1" dirty="0"/>
              <a:t>50MP sensors</a:t>
            </a:r>
            <a:r>
              <a:rPr lang="en-US" sz="1100" dirty="0"/>
              <a:t> to balance </a:t>
            </a:r>
            <a:r>
              <a:rPr lang="en-US" sz="1100" b="1" dirty="0"/>
              <a:t>performance, quality, and affordability</a:t>
            </a:r>
            <a:r>
              <a:rPr lang="en-US" sz="1100" dirty="0"/>
              <a:t>.</a:t>
            </a:r>
            <a:br>
              <a:rPr lang="en-US" sz="1100" dirty="0"/>
            </a:br>
            <a:endParaRPr lang="en-IN" sz="1100" b="1" u="sng" dirty="0">
              <a:solidFill>
                <a:srgbClr val="FF0000"/>
              </a:solidFill>
            </a:endParaRPr>
          </a:p>
        </p:txBody>
      </p:sp>
      <p:sp>
        <p:nvSpPr>
          <p:cNvPr id="8" name="Text Placeholder 7">
            <a:extLst>
              <a:ext uri="{FF2B5EF4-FFF2-40B4-BE49-F238E27FC236}">
                <a16:creationId xmlns:a16="http://schemas.microsoft.com/office/drawing/2014/main" id="{A4255F0D-0B73-6164-58DD-C73787828B1C}"/>
              </a:ext>
            </a:extLst>
          </p:cNvPr>
          <p:cNvSpPr>
            <a:spLocks noGrp="1"/>
          </p:cNvSpPr>
          <p:nvPr>
            <p:ph type="body" idx="1"/>
          </p:nvPr>
        </p:nvSpPr>
        <p:spPr/>
        <p:txBody>
          <a:bodyPr/>
          <a:lstStyle/>
          <a:p>
            <a:r>
              <a:rPr lang="en-IN" sz="1400" b="1" u="sng" dirty="0">
                <a:solidFill>
                  <a:schemeClr val="accent1"/>
                </a:solidFill>
              </a:rPr>
              <a:t>Univariate Back Camera Percentage Distribution </a:t>
            </a:r>
          </a:p>
        </p:txBody>
      </p:sp>
      <p:pic>
        <p:nvPicPr>
          <p:cNvPr id="13" name="Content Placeholder 12">
            <a:extLst>
              <a:ext uri="{FF2B5EF4-FFF2-40B4-BE49-F238E27FC236}">
                <a16:creationId xmlns:a16="http://schemas.microsoft.com/office/drawing/2014/main" id="{D0F75C88-FC44-850F-4DF8-17CF1B016A51}"/>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76275" y="2809732"/>
            <a:ext cx="4184650" cy="3159410"/>
          </a:xfrm>
        </p:spPr>
      </p:pic>
      <p:sp>
        <p:nvSpPr>
          <p:cNvPr id="10" name="Text Placeholder 9">
            <a:extLst>
              <a:ext uri="{FF2B5EF4-FFF2-40B4-BE49-F238E27FC236}">
                <a16:creationId xmlns:a16="http://schemas.microsoft.com/office/drawing/2014/main" id="{DBC7A593-075F-CB99-19C8-C3C9BBF1F1A0}"/>
              </a:ext>
            </a:extLst>
          </p:cNvPr>
          <p:cNvSpPr>
            <a:spLocks noGrp="1"/>
          </p:cNvSpPr>
          <p:nvPr>
            <p:ph type="body" sz="quarter" idx="3"/>
          </p:nvPr>
        </p:nvSpPr>
        <p:spPr/>
        <p:txBody>
          <a:bodyPr/>
          <a:lstStyle/>
          <a:p>
            <a:r>
              <a:rPr lang="en-IN" sz="1600" b="1" u="sng" dirty="0">
                <a:solidFill>
                  <a:schemeClr val="accent2"/>
                </a:solidFill>
              </a:rPr>
              <a:t>Bivariate Brand vs. Back camera Type</a:t>
            </a:r>
          </a:p>
        </p:txBody>
      </p:sp>
      <p:pic>
        <p:nvPicPr>
          <p:cNvPr id="15" name="Content Placeholder 14">
            <a:extLst>
              <a:ext uri="{FF2B5EF4-FFF2-40B4-BE49-F238E27FC236}">
                <a16:creationId xmlns:a16="http://schemas.microsoft.com/office/drawing/2014/main" id="{B715B739-40A2-77E2-45E1-743948C2DA97}"/>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5087938" y="2739715"/>
            <a:ext cx="4186237" cy="3299444"/>
          </a:xfrm>
        </p:spPr>
      </p:pic>
    </p:spTree>
    <p:extLst>
      <p:ext uri="{BB962C8B-B14F-4D97-AF65-F5344CB8AC3E}">
        <p14:creationId xmlns:p14="http://schemas.microsoft.com/office/powerpoint/2010/main" val="19973871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CC6D0-8A32-6EF0-BEE3-7A69BB1F2821}"/>
              </a:ext>
            </a:extLst>
          </p:cNvPr>
          <p:cNvSpPr>
            <a:spLocks noGrp="1"/>
          </p:cNvSpPr>
          <p:nvPr>
            <p:ph type="title"/>
          </p:nvPr>
        </p:nvSpPr>
        <p:spPr>
          <a:xfrm>
            <a:off x="559838" y="494522"/>
            <a:ext cx="3349690" cy="541176"/>
          </a:xfrm>
        </p:spPr>
        <p:txBody>
          <a:bodyPr/>
          <a:lstStyle/>
          <a:p>
            <a:r>
              <a:rPr lang="en-US" b="1" u="sng" dirty="0">
                <a:solidFill>
                  <a:srgbClr val="FF0000"/>
                </a:solidFill>
              </a:rPr>
              <a:t>DISPLAY SIZE(cm) Analysis:</a:t>
            </a:r>
            <a:endParaRPr lang="en-IN" b="1" u="sng" dirty="0">
              <a:solidFill>
                <a:srgbClr val="FF0000"/>
              </a:solidFill>
            </a:endParaRPr>
          </a:p>
        </p:txBody>
      </p:sp>
      <p:pic>
        <p:nvPicPr>
          <p:cNvPr id="8" name="Content Placeholder 7">
            <a:extLst>
              <a:ext uri="{FF2B5EF4-FFF2-40B4-BE49-F238E27FC236}">
                <a16:creationId xmlns:a16="http://schemas.microsoft.com/office/drawing/2014/main" id="{F6013A69-0A1B-08C4-34B9-44B0A25BD48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60913" y="1643526"/>
            <a:ext cx="4513262" cy="3269323"/>
          </a:xfrm>
        </p:spPr>
      </p:pic>
      <p:sp>
        <p:nvSpPr>
          <p:cNvPr id="6" name="Text Placeholder 5">
            <a:extLst>
              <a:ext uri="{FF2B5EF4-FFF2-40B4-BE49-F238E27FC236}">
                <a16:creationId xmlns:a16="http://schemas.microsoft.com/office/drawing/2014/main" id="{31D0B72B-3342-4C5F-F5A7-B4FDC9FD09A3}"/>
              </a:ext>
            </a:extLst>
          </p:cNvPr>
          <p:cNvSpPr>
            <a:spLocks noGrp="1"/>
          </p:cNvSpPr>
          <p:nvPr>
            <p:ph type="body" sz="half" idx="2"/>
          </p:nvPr>
        </p:nvSpPr>
        <p:spPr>
          <a:xfrm>
            <a:off x="662473" y="1464906"/>
            <a:ext cx="3869389" cy="3896613"/>
          </a:xfrm>
        </p:spPr>
        <p:txBody>
          <a:bodyPr>
            <a:noAutofit/>
          </a:bodyPr>
          <a:lstStyle/>
          <a:p>
            <a:pPr marL="285750" indent="-285750" algn="just">
              <a:buFont typeface="Wingdings" panose="05000000000000000000" pitchFamily="2" charset="2"/>
              <a:buChar char="v"/>
            </a:pPr>
            <a:r>
              <a:rPr lang="en-US" sz="1200" dirty="0"/>
              <a:t>The violin plot illustrates the </a:t>
            </a:r>
            <a:r>
              <a:rPr lang="en-US" sz="1200" b="1" dirty="0"/>
              <a:t>distribution of mobile phone display sizes</a:t>
            </a:r>
            <a:r>
              <a:rPr lang="en-US" sz="1200" dirty="0"/>
              <a:t> in centimeters. </a:t>
            </a:r>
          </a:p>
          <a:p>
            <a:pPr marL="285750" indent="-285750" algn="just">
              <a:buFont typeface="Wingdings" panose="05000000000000000000" pitchFamily="2" charset="2"/>
              <a:buChar char="v"/>
            </a:pPr>
            <a:r>
              <a:rPr lang="en-US" sz="1200" dirty="0"/>
              <a:t>Most phones cluster around </a:t>
            </a:r>
            <a:r>
              <a:rPr lang="en-US" sz="1200" b="1" dirty="0"/>
              <a:t>17–18 cm</a:t>
            </a:r>
            <a:r>
              <a:rPr lang="en-US" sz="1200" dirty="0"/>
              <a:t>, indicating that medium-sized displays dominate the market.</a:t>
            </a:r>
          </a:p>
          <a:p>
            <a:pPr marL="285750" indent="-285750" algn="just">
              <a:buFont typeface="Wingdings" panose="05000000000000000000" pitchFamily="2" charset="2"/>
              <a:buChar char="v"/>
            </a:pPr>
            <a:r>
              <a:rPr lang="en-US" sz="1200" dirty="0"/>
              <a:t> This concentration suggests that consumers prefer moderately large screens, balancing usability and portability. </a:t>
            </a:r>
          </a:p>
          <a:p>
            <a:pPr marL="285750" indent="-285750" algn="just">
              <a:buFont typeface="Wingdings" panose="05000000000000000000" pitchFamily="2" charset="2"/>
              <a:buChar char="v"/>
            </a:pPr>
            <a:r>
              <a:rPr lang="en-US" sz="1200" dirty="0"/>
              <a:t>A few models with much smaller or larger displays exist but are outliers, showing limited demand for extreme sizes. </a:t>
            </a:r>
          </a:p>
          <a:p>
            <a:pPr marL="285750" indent="-285750" algn="just">
              <a:buFont typeface="Wingdings" panose="05000000000000000000" pitchFamily="2" charset="2"/>
              <a:buChar char="v"/>
            </a:pPr>
            <a:r>
              <a:rPr lang="en-US" sz="1200" dirty="0"/>
              <a:t>The narrow spread around the central region reflects </a:t>
            </a:r>
            <a:r>
              <a:rPr lang="en-US" sz="1200" b="1" dirty="0"/>
              <a:t>consistency in screen design trends</a:t>
            </a:r>
            <a:r>
              <a:rPr lang="en-US" sz="1200" dirty="0"/>
              <a:t> across brands.</a:t>
            </a:r>
          </a:p>
          <a:p>
            <a:pPr marL="285750" indent="-285750" algn="just">
              <a:buFont typeface="Wingdings" panose="05000000000000000000" pitchFamily="2" charset="2"/>
              <a:buChar char="v"/>
            </a:pPr>
            <a:r>
              <a:rPr lang="en-US" sz="1200" dirty="0"/>
              <a:t> Overall, the analysis indicates that manufacturers tend to focus on producing phones within this optimal display range to cater to the majority of user preferences.</a:t>
            </a:r>
            <a:endParaRPr lang="en-IN" sz="1200" dirty="0"/>
          </a:p>
        </p:txBody>
      </p:sp>
    </p:spTree>
    <p:extLst>
      <p:ext uri="{BB962C8B-B14F-4D97-AF65-F5344CB8AC3E}">
        <p14:creationId xmlns:p14="http://schemas.microsoft.com/office/powerpoint/2010/main" val="39704565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3E005-D611-BCD2-CE18-5CA17BE221FB}"/>
              </a:ext>
            </a:extLst>
          </p:cNvPr>
          <p:cNvSpPr>
            <a:spLocks noGrp="1"/>
          </p:cNvSpPr>
          <p:nvPr>
            <p:ph type="title"/>
          </p:nvPr>
        </p:nvSpPr>
        <p:spPr/>
        <p:txBody>
          <a:bodyPr>
            <a:normAutofit/>
          </a:bodyPr>
          <a:lstStyle/>
          <a:p>
            <a:r>
              <a:rPr lang="en-US" sz="1600" b="1" u="sng" dirty="0">
                <a:solidFill>
                  <a:srgbClr val="FF0000"/>
                </a:solidFill>
              </a:rPr>
              <a:t>RAM AND ROM ANALYSIS:</a:t>
            </a:r>
            <a:br>
              <a:rPr lang="en-US" sz="1600" dirty="0"/>
            </a:br>
            <a:r>
              <a:rPr lang="en-US" sz="1600" dirty="0">
                <a:solidFill>
                  <a:schemeClr val="tx1"/>
                </a:solidFill>
              </a:rPr>
              <a:t>Most smartphones in the dataset feature </a:t>
            </a:r>
            <a:r>
              <a:rPr lang="en-US" sz="1600" b="1" dirty="0">
                <a:solidFill>
                  <a:schemeClr val="tx1"/>
                </a:solidFill>
              </a:rPr>
              <a:t>8 GB RAM</a:t>
            </a:r>
            <a:r>
              <a:rPr lang="en-US" sz="1600" dirty="0">
                <a:solidFill>
                  <a:schemeClr val="tx1"/>
                </a:solidFill>
              </a:rPr>
              <a:t> and </a:t>
            </a:r>
            <a:r>
              <a:rPr lang="en-US" sz="1600" b="1" dirty="0">
                <a:solidFill>
                  <a:schemeClr val="tx1"/>
                </a:solidFill>
              </a:rPr>
              <a:t>128 GB ROM</a:t>
            </a:r>
            <a:r>
              <a:rPr lang="en-US" sz="1600" dirty="0">
                <a:solidFill>
                  <a:schemeClr val="tx1"/>
                </a:solidFill>
              </a:rPr>
              <a:t>, indicating that mid-range devices dominate the market. Higher configurations like </a:t>
            </a:r>
            <a:r>
              <a:rPr lang="en-US" sz="1600" b="1" dirty="0">
                <a:solidFill>
                  <a:schemeClr val="tx1"/>
                </a:solidFill>
              </a:rPr>
              <a:t>12 GB RAM</a:t>
            </a:r>
            <a:r>
              <a:rPr lang="en-US" sz="1600" dirty="0">
                <a:solidFill>
                  <a:schemeClr val="tx1"/>
                </a:solidFill>
              </a:rPr>
              <a:t> or </a:t>
            </a:r>
            <a:r>
              <a:rPr lang="en-US" sz="1600" b="1" dirty="0">
                <a:solidFill>
                  <a:schemeClr val="tx1"/>
                </a:solidFill>
              </a:rPr>
              <a:t>256–512 GB ROM</a:t>
            </a:r>
            <a:r>
              <a:rPr lang="en-US" sz="1600" dirty="0">
                <a:solidFill>
                  <a:schemeClr val="tx1"/>
                </a:solidFill>
              </a:rPr>
              <a:t> appear less frequently, showing limited presence of premium models.</a:t>
            </a:r>
            <a:endParaRPr lang="en-IN" sz="1600" dirty="0">
              <a:solidFill>
                <a:schemeClr val="tx1"/>
              </a:solidFill>
            </a:endParaRPr>
          </a:p>
        </p:txBody>
      </p:sp>
      <p:sp>
        <p:nvSpPr>
          <p:cNvPr id="3" name="Text Placeholder 2">
            <a:extLst>
              <a:ext uri="{FF2B5EF4-FFF2-40B4-BE49-F238E27FC236}">
                <a16:creationId xmlns:a16="http://schemas.microsoft.com/office/drawing/2014/main" id="{A509DD31-EA7C-D27F-A97B-5D466C6681E9}"/>
              </a:ext>
            </a:extLst>
          </p:cNvPr>
          <p:cNvSpPr>
            <a:spLocks noGrp="1"/>
          </p:cNvSpPr>
          <p:nvPr>
            <p:ph type="body" idx="1"/>
          </p:nvPr>
        </p:nvSpPr>
        <p:spPr/>
        <p:txBody>
          <a:bodyPr/>
          <a:lstStyle/>
          <a:p>
            <a:r>
              <a:rPr lang="en-US" b="1" u="sng" dirty="0">
                <a:solidFill>
                  <a:srgbClr val="00B050"/>
                </a:solidFill>
              </a:rPr>
              <a:t>Histogram plot Ram</a:t>
            </a:r>
            <a:endParaRPr lang="en-IN" b="1" u="sng" dirty="0">
              <a:solidFill>
                <a:srgbClr val="00B050"/>
              </a:solidFill>
            </a:endParaRPr>
          </a:p>
        </p:txBody>
      </p:sp>
      <p:pic>
        <p:nvPicPr>
          <p:cNvPr id="8" name="Content Placeholder 7">
            <a:extLst>
              <a:ext uri="{FF2B5EF4-FFF2-40B4-BE49-F238E27FC236}">
                <a16:creationId xmlns:a16="http://schemas.microsoft.com/office/drawing/2014/main" id="{11AB05CD-705E-5927-0FB2-C6D92D11211C}"/>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85537" y="2736850"/>
            <a:ext cx="4166125" cy="3305175"/>
          </a:xfrm>
        </p:spPr>
      </p:pic>
      <p:sp>
        <p:nvSpPr>
          <p:cNvPr id="5" name="Text Placeholder 4">
            <a:extLst>
              <a:ext uri="{FF2B5EF4-FFF2-40B4-BE49-F238E27FC236}">
                <a16:creationId xmlns:a16="http://schemas.microsoft.com/office/drawing/2014/main" id="{7D3E7AEE-B909-4445-FF54-9CA04A752978}"/>
              </a:ext>
            </a:extLst>
          </p:cNvPr>
          <p:cNvSpPr>
            <a:spLocks noGrp="1"/>
          </p:cNvSpPr>
          <p:nvPr>
            <p:ph type="body" sz="quarter" idx="3"/>
          </p:nvPr>
        </p:nvSpPr>
        <p:spPr/>
        <p:txBody>
          <a:bodyPr/>
          <a:lstStyle/>
          <a:p>
            <a:r>
              <a:rPr lang="en-US" b="1" u="sng" dirty="0">
                <a:solidFill>
                  <a:srgbClr val="0070C0"/>
                </a:solidFill>
              </a:rPr>
              <a:t>Histogram plot for Rom</a:t>
            </a:r>
            <a:endParaRPr lang="en-IN" b="1" u="sng" dirty="0">
              <a:solidFill>
                <a:srgbClr val="0070C0"/>
              </a:solidFill>
            </a:endParaRPr>
          </a:p>
        </p:txBody>
      </p:sp>
      <p:pic>
        <p:nvPicPr>
          <p:cNvPr id="10" name="Content Placeholder 9">
            <a:extLst>
              <a:ext uri="{FF2B5EF4-FFF2-40B4-BE49-F238E27FC236}">
                <a16:creationId xmlns:a16="http://schemas.microsoft.com/office/drawing/2014/main" id="{A1D10CFC-9285-5CB5-97C6-E96D0938C86D}"/>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5097994" y="2736850"/>
            <a:ext cx="4166125" cy="3305175"/>
          </a:xfrm>
        </p:spPr>
      </p:pic>
    </p:spTree>
    <p:extLst>
      <p:ext uri="{BB962C8B-B14F-4D97-AF65-F5344CB8AC3E}">
        <p14:creationId xmlns:p14="http://schemas.microsoft.com/office/powerpoint/2010/main" val="14143172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65FC7D0-579E-1573-A084-B9993093B576}"/>
              </a:ext>
            </a:extLst>
          </p:cNvPr>
          <p:cNvSpPr>
            <a:spLocks noGrp="1"/>
          </p:cNvSpPr>
          <p:nvPr>
            <p:ph type="body" idx="1"/>
          </p:nvPr>
        </p:nvSpPr>
        <p:spPr/>
        <p:txBody>
          <a:bodyPr/>
          <a:lstStyle/>
          <a:p>
            <a:r>
              <a:rPr lang="en-US" b="1" u="sng" dirty="0">
                <a:solidFill>
                  <a:srgbClr val="FF0000"/>
                </a:solidFill>
              </a:rPr>
              <a:t>Pivot Table</a:t>
            </a:r>
            <a:endParaRPr lang="en-IN" b="1" u="sng" dirty="0">
              <a:solidFill>
                <a:srgbClr val="FF0000"/>
              </a:solidFill>
            </a:endParaRPr>
          </a:p>
        </p:txBody>
      </p:sp>
      <p:pic>
        <p:nvPicPr>
          <p:cNvPr id="8" name="Content Placeholder 7">
            <a:extLst>
              <a:ext uri="{FF2B5EF4-FFF2-40B4-BE49-F238E27FC236}">
                <a16:creationId xmlns:a16="http://schemas.microsoft.com/office/drawing/2014/main" id="{7C4453C9-2930-72A6-1B01-DB74EC4B562B}"/>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76275" y="3212505"/>
            <a:ext cx="4184650" cy="2353865"/>
          </a:xfrm>
        </p:spPr>
      </p:pic>
      <p:sp>
        <p:nvSpPr>
          <p:cNvPr id="5" name="Text Placeholder 4">
            <a:extLst>
              <a:ext uri="{FF2B5EF4-FFF2-40B4-BE49-F238E27FC236}">
                <a16:creationId xmlns:a16="http://schemas.microsoft.com/office/drawing/2014/main" id="{502731D9-572C-BD5F-CF4C-0F510DD82D1A}"/>
              </a:ext>
            </a:extLst>
          </p:cNvPr>
          <p:cNvSpPr>
            <a:spLocks noGrp="1"/>
          </p:cNvSpPr>
          <p:nvPr>
            <p:ph type="body" sz="quarter" idx="3"/>
          </p:nvPr>
        </p:nvSpPr>
        <p:spPr/>
        <p:txBody>
          <a:bodyPr/>
          <a:lstStyle/>
          <a:p>
            <a:r>
              <a:rPr lang="en-US" b="1" u="sng" dirty="0">
                <a:solidFill>
                  <a:srgbClr val="00B050"/>
                </a:solidFill>
              </a:rPr>
              <a:t>Crosstab</a:t>
            </a:r>
            <a:endParaRPr lang="en-IN" b="1" u="sng" dirty="0">
              <a:solidFill>
                <a:srgbClr val="00B050"/>
              </a:solidFill>
            </a:endParaRPr>
          </a:p>
        </p:txBody>
      </p:sp>
      <p:pic>
        <p:nvPicPr>
          <p:cNvPr id="10" name="Content Placeholder 9">
            <a:extLst>
              <a:ext uri="{FF2B5EF4-FFF2-40B4-BE49-F238E27FC236}">
                <a16:creationId xmlns:a16="http://schemas.microsoft.com/office/drawing/2014/main" id="{24C1CB64-3ED1-B64E-B90E-4CEC1EC3959E}"/>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5087938" y="3212058"/>
            <a:ext cx="4186237" cy="2354758"/>
          </a:xfrm>
        </p:spPr>
      </p:pic>
      <p:sp>
        <p:nvSpPr>
          <p:cNvPr id="11" name="Rectangle 1">
            <a:extLst>
              <a:ext uri="{FF2B5EF4-FFF2-40B4-BE49-F238E27FC236}">
                <a16:creationId xmlns:a16="http://schemas.microsoft.com/office/drawing/2014/main" id="{8625A343-98BC-0D5C-3522-E97402430059}"/>
              </a:ext>
            </a:extLst>
          </p:cNvPr>
          <p:cNvSpPr>
            <a:spLocks noGrp="1" noChangeArrowheads="1"/>
          </p:cNvSpPr>
          <p:nvPr>
            <p:ph type="title"/>
          </p:nvPr>
        </p:nvSpPr>
        <p:spPr bwMode="auto">
          <a:xfrm>
            <a:off x="550506" y="796787"/>
            <a:ext cx="898538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sng" strike="noStrike" cap="none" normalizeH="0" baseline="0" dirty="0">
                <a:ln>
                  <a:noFill/>
                </a:ln>
                <a:solidFill>
                  <a:srgbClr val="FF0000"/>
                </a:solidFill>
                <a:effectLst/>
                <a:latin typeface="Arial" panose="020B0604020202020204" pitchFamily="34" charset="0"/>
              </a:rPr>
              <a:t>Pivot tables </a:t>
            </a:r>
            <a:r>
              <a:rPr kumimoji="0" lang="en-US" altLang="en-US" sz="1400" b="0" i="0" u="none" strike="noStrike" cap="none" normalizeH="0" baseline="0" dirty="0">
                <a:ln>
                  <a:noFill/>
                </a:ln>
                <a:solidFill>
                  <a:schemeClr val="tx1"/>
                </a:solidFill>
                <a:effectLst/>
                <a:latin typeface="Arial" panose="020B0604020202020204" pitchFamily="34" charset="0"/>
              </a:rPr>
              <a:t>help analyze relationships, such as average price by </a:t>
            </a:r>
            <a:r>
              <a:rPr lang="en-US" altLang="en-US" sz="1400" b="1" dirty="0">
                <a:solidFill>
                  <a:schemeClr val="tx1"/>
                </a:solidFill>
                <a:latin typeface="Arial" panose="020B0604020202020204" pitchFamily="34" charset="0"/>
              </a:rPr>
              <a:t>ROM</a:t>
            </a:r>
            <a:r>
              <a:rPr kumimoji="0" lang="en-US" altLang="en-US" sz="1400" b="0" i="0" u="none" strike="noStrike" cap="none" normalizeH="0" baseline="0" dirty="0">
                <a:ln>
                  <a:noFill/>
                </a:ln>
                <a:solidFill>
                  <a:schemeClr val="tx1"/>
                </a:solidFill>
                <a:effectLst/>
                <a:latin typeface="Arial" panose="020B0604020202020204" pitchFamily="34" charset="0"/>
              </a:rPr>
              <a:t>,</a:t>
            </a:r>
            <a:r>
              <a:rPr lang="en-US" altLang="en-US" sz="1400" b="1" dirty="0">
                <a:solidFill>
                  <a:schemeClr val="tx1"/>
                </a:solidFill>
                <a:latin typeface="Arial" panose="020B0604020202020204" pitchFamily="34" charset="0"/>
              </a:rPr>
              <a:t>PRICE</a:t>
            </a:r>
            <a:r>
              <a:rPr kumimoji="0" lang="en-US" altLang="en-US" sz="1400" b="0" i="0" u="none" strike="noStrike" cap="none" normalizeH="0" baseline="0" dirty="0">
                <a:ln>
                  <a:noFill/>
                </a:ln>
                <a:solidFill>
                  <a:schemeClr val="tx1"/>
                </a:solidFill>
                <a:effectLst/>
                <a:latin typeface="Arial" panose="020B0604020202020204" pitchFamily="34" charset="0"/>
              </a:rPr>
              <a:t> or </a:t>
            </a:r>
            <a:r>
              <a:rPr kumimoji="0" lang="en-US" altLang="en-US" sz="1400" b="1" i="0" u="none" strike="noStrike" cap="none" normalizeH="0" baseline="0" dirty="0">
                <a:ln>
                  <a:noFill/>
                </a:ln>
                <a:solidFill>
                  <a:schemeClr val="tx1"/>
                </a:solidFill>
                <a:effectLst/>
                <a:latin typeface="Arial" panose="020B0604020202020204" pitchFamily="34" charset="0"/>
              </a:rPr>
              <a:t>RAM size</a:t>
            </a:r>
            <a:r>
              <a:rPr kumimoji="0" lang="en-US" altLang="en-US" sz="1400" b="0" i="0" u="none" strike="noStrike" cap="none" normalizeH="0" baseline="0" dirty="0">
                <a:ln>
                  <a:noFill/>
                </a:ln>
                <a:solidFill>
                  <a:schemeClr val="tx1"/>
                </a:solidFill>
                <a:effectLst/>
                <a:latin typeface="Arial" panose="020B0604020202020204" pitchFamily="34" charset="0"/>
              </a:rPr>
              <a:t>, allowing us to see which features lead to higher prices.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sng" strike="noStrike" cap="none" normalizeH="0" baseline="0" dirty="0">
                <a:ln>
                  <a:noFill/>
                </a:ln>
                <a:solidFill>
                  <a:srgbClr val="00B050"/>
                </a:solidFill>
                <a:effectLst/>
                <a:latin typeface="Arial" panose="020B0604020202020204" pitchFamily="34" charset="0"/>
              </a:rPr>
              <a:t>Crosstabs</a:t>
            </a:r>
            <a:r>
              <a:rPr kumimoji="0" lang="en-US" altLang="en-US" sz="1400" b="0" i="0" u="none" strike="noStrike" cap="none" normalizeH="0" baseline="0" dirty="0">
                <a:ln>
                  <a:noFill/>
                </a:ln>
                <a:solidFill>
                  <a:schemeClr val="tx1"/>
                </a:solidFill>
                <a:effectLst/>
                <a:latin typeface="Arial" panose="020B0604020202020204" pitchFamily="34" charset="0"/>
              </a:rPr>
              <a:t> are useful for examining </a:t>
            </a:r>
            <a:r>
              <a:rPr kumimoji="0" lang="en-US" altLang="en-US" sz="1400" b="1" i="0" u="none" strike="noStrike" cap="none" normalizeH="0" baseline="0" dirty="0">
                <a:ln>
                  <a:noFill/>
                </a:ln>
                <a:solidFill>
                  <a:schemeClr val="tx1"/>
                </a:solidFill>
                <a:effectLst/>
                <a:latin typeface="Arial" panose="020B0604020202020204" pitchFamily="34" charset="0"/>
              </a:rPr>
              <a:t>frequency distributions</a:t>
            </a:r>
            <a:r>
              <a:rPr kumimoji="0" lang="en-US" altLang="en-US" sz="1400" b="0" i="0" u="none" strike="noStrike" cap="none" normalizeH="0" baseline="0" dirty="0">
                <a:ln>
                  <a:noFill/>
                </a:ln>
                <a:solidFill>
                  <a:schemeClr val="tx1"/>
                </a:solidFill>
                <a:effectLst/>
                <a:latin typeface="Arial" panose="020B0604020202020204" pitchFamily="34" charset="0"/>
              </a:rPr>
              <a:t>, like how many phones fall into each </a:t>
            </a:r>
            <a:r>
              <a:rPr kumimoji="0" lang="en-US" altLang="en-US" sz="1400" b="1" i="0" u="none" strike="noStrike" cap="none" normalizeH="0" baseline="0" dirty="0">
                <a:ln>
                  <a:noFill/>
                </a:ln>
                <a:solidFill>
                  <a:schemeClr val="tx1"/>
                </a:solidFill>
                <a:effectLst/>
                <a:latin typeface="Arial" panose="020B0604020202020204" pitchFamily="34" charset="0"/>
              </a:rPr>
              <a:t>RAM–ROM</a:t>
            </a:r>
            <a:r>
              <a:rPr kumimoji="0" lang="en-US" altLang="en-US" sz="1400" b="0" i="0" u="none" strike="noStrike" cap="none" normalizeH="0" baseline="0" dirty="0">
                <a:ln>
                  <a:noFill/>
                </a:ln>
                <a:solidFill>
                  <a:schemeClr val="tx1"/>
                </a:solidFill>
                <a:effectLst/>
                <a:latin typeface="Arial" panose="020B0604020202020204" pitchFamily="34" charset="0"/>
              </a:rPr>
              <a:t> or </a:t>
            </a:r>
            <a:r>
              <a:rPr kumimoji="0" lang="en-US" altLang="en-US" sz="1400" b="1" i="0" u="none" strike="noStrike" cap="none" normalizeH="0" baseline="0" dirty="0">
                <a:ln>
                  <a:noFill/>
                </a:ln>
                <a:solidFill>
                  <a:schemeClr val="tx1"/>
                </a:solidFill>
                <a:effectLst/>
                <a:latin typeface="Arial" panose="020B0604020202020204" pitchFamily="34" charset="0"/>
              </a:rPr>
              <a:t>Brand–</a:t>
            </a:r>
            <a:r>
              <a:rPr lang="en-US" altLang="en-US" sz="1400" b="1" dirty="0">
                <a:solidFill>
                  <a:schemeClr val="tx1"/>
                </a:solidFill>
                <a:latin typeface="Arial" panose="020B0604020202020204" pitchFamily="34" charset="0"/>
              </a:rPr>
              <a:t>Model</a:t>
            </a:r>
            <a:r>
              <a:rPr kumimoji="0" lang="en-US" altLang="en-US" sz="1400" b="0" i="0" u="none" strike="noStrike" cap="none" normalizeH="0" baseline="0" dirty="0">
                <a:ln>
                  <a:noFill/>
                </a:ln>
                <a:solidFill>
                  <a:schemeClr val="tx1"/>
                </a:solidFill>
                <a:effectLst/>
                <a:latin typeface="Arial" panose="020B0604020202020204" pitchFamily="34" charset="0"/>
              </a:rPr>
              <a:t> combination.</a:t>
            </a:r>
          </a:p>
        </p:txBody>
      </p:sp>
    </p:spTree>
    <p:extLst>
      <p:ext uri="{BB962C8B-B14F-4D97-AF65-F5344CB8AC3E}">
        <p14:creationId xmlns:p14="http://schemas.microsoft.com/office/powerpoint/2010/main" val="26094012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DFA2E-C3D1-1A3E-EDB7-8B36FD4B8513}"/>
              </a:ext>
            </a:extLst>
          </p:cNvPr>
          <p:cNvSpPr>
            <a:spLocks noGrp="1"/>
          </p:cNvSpPr>
          <p:nvPr>
            <p:ph type="title"/>
          </p:nvPr>
        </p:nvSpPr>
        <p:spPr>
          <a:xfrm>
            <a:off x="409562" y="793103"/>
            <a:ext cx="3705238" cy="703380"/>
          </a:xfrm>
        </p:spPr>
        <p:txBody>
          <a:bodyPr>
            <a:normAutofit/>
          </a:bodyPr>
          <a:lstStyle/>
          <a:p>
            <a:r>
              <a:rPr lang="en-US" b="1" u="sng" dirty="0">
                <a:solidFill>
                  <a:srgbClr val="FF0000"/>
                </a:solidFill>
              </a:rPr>
              <a:t>Analysis of Heat map Based on Core Components</a:t>
            </a:r>
            <a:endParaRPr lang="en-IN" b="1" u="sng" dirty="0">
              <a:solidFill>
                <a:srgbClr val="FF0000"/>
              </a:solidFill>
            </a:endParaRPr>
          </a:p>
        </p:txBody>
      </p:sp>
      <p:pic>
        <p:nvPicPr>
          <p:cNvPr id="6" name="Content Placeholder 5">
            <a:extLst>
              <a:ext uri="{FF2B5EF4-FFF2-40B4-BE49-F238E27FC236}">
                <a16:creationId xmlns:a16="http://schemas.microsoft.com/office/drawing/2014/main" id="{F6D9F745-5B35-C23C-955A-9CA5981CD01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31804" y="1440125"/>
            <a:ext cx="5437377" cy="4428830"/>
          </a:xfrm>
        </p:spPr>
      </p:pic>
      <p:sp>
        <p:nvSpPr>
          <p:cNvPr id="4" name="Text Placeholder 3">
            <a:extLst>
              <a:ext uri="{FF2B5EF4-FFF2-40B4-BE49-F238E27FC236}">
                <a16:creationId xmlns:a16="http://schemas.microsoft.com/office/drawing/2014/main" id="{66204355-2013-1D2F-7EB0-889F40BC6B0F}"/>
              </a:ext>
            </a:extLst>
          </p:cNvPr>
          <p:cNvSpPr>
            <a:spLocks noGrp="1"/>
          </p:cNvSpPr>
          <p:nvPr>
            <p:ph type="body" sz="half" idx="2"/>
          </p:nvPr>
        </p:nvSpPr>
        <p:spPr>
          <a:xfrm>
            <a:off x="550506" y="1685395"/>
            <a:ext cx="3981356" cy="3676124"/>
          </a:xfrm>
        </p:spPr>
        <p:txBody>
          <a:bodyPr>
            <a:noAutofit/>
          </a:bodyPr>
          <a:lstStyle/>
          <a:p>
            <a:pPr marL="285750" indent="-285750" algn="just">
              <a:buFont typeface="Wingdings" panose="05000000000000000000" pitchFamily="2" charset="2"/>
              <a:buChar char="v"/>
            </a:pPr>
            <a:r>
              <a:rPr lang="en-US" dirty="0"/>
              <a:t>The correlation heatmap reveals the </a:t>
            </a:r>
            <a:r>
              <a:rPr lang="en-US" b="1" dirty="0"/>
              <a:t>relationships between numerical features</a:t>
            </a:r>
            <a:r>
              <a:rPr lang="en-US" dirty="0"/>
              <a:t> of mobile phones.</a:t>
            </a:r>
          </a:p>
          <a:p>
            <a:pPr marL="285750" indent="-285750" algn="just">
              <a:buFont typeface="Wingdings" panose="05000000000000000000" pitchFamily="2" charset="2"/>
              <a:buChar char="v"/>
            </a:pPr>
            <a:r>
              <a:rPr lang="en-US" dirty="0"/>
              <a:t> RAM and ROM show a strong positive correlation (0.72), indicating that phones with higher RAM often come with larger storage capacities.</a:t>
            </a:r>
          </a:p>
          <a:p>
            <a:pPr marL="285750" indent="-285750" algn="just">
              <a:buFont typeface="Wingdings" panose="05000000000000000000" pitchFamily="2" charset="2"/>
              <a:buChar char="v"/>
            </a:pPr>
            <a:r>
              <a:rPr lang="en-US" dirty="0"/>
              <a:t> Price is moderately correlated with RAM (0.61) and ROM (0.58), suggesting that memory capacity significantly impacts cost. </a:t>
            </a:r>
          </a:p>
          <a:p>
            <a:pPr marL="285750" indent="-285750" algn="just">
              <a:buFont typeface="Wingdings" panose="05000000000000000000" pitchFamily="2" charset="2"/>
              <a:buChar char="v"/>
            </a:pPr>
            <a:r>
              <a:rPr lang="en-US" dirty="0"/>
              <a:t>Ratings and reviews are highly correlated (0.80), implying that higher-rated phones tend to receive more reviews. </a:t>
            </a:r>
          </a:p>
          <a:p>
            <a:pPr marL="285750" indent="-285750" algn="just">
              <a:buFont typeface="Wingdings" panose="05000000000000000000" pitchFamily="2" charset="2"/>
              <a:buChar char="v"/>
            </a:pPr>
            <a:r>
              <a:rPr lang="en-US" dirty="0"/>
              <a:t>The front camera shows moderate correlation with battery (0.45), reflecting design consistency in mid-range to high-end devices. </a:t>
            </a:r>
          </a:p>
          <a:p>
            <a:pPr marL="285750" indent="-285750" algn="just">
              <a:buFont typeface="Wingdings" panose="05000000000000000000" pitchFamily="2" charset="2"/>
              <a:buChar char="v"/>
            </a:pPr>
            <a:r>
              <a:rPr lang="en-US" dirty="0"/>
              <a:t>Overall, performance-related features like RAM and ROM most strongly influence price and customer satisfaction.</a:t>
            </a:r>
            <a:endParaRPr lang="en-IN" dirty="0"/>
          </a:p>
        </p:txBody>
      </p:sp>
    </p:spTree>
    <p:extLst>
      <p:ext uri="{BB962C8B-B14F-4D97-AF65-F5344CB8AC3E}">
        <p14:creationId xmlns:p14="http://schemas.microsoft.com/office/powerpoint/2010/main" val="39281665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F3D06-ABD4-449B-AF1B-E9302523D76F}"/>
              </a:ext>
            </a:extLst>
          </p:cNvPr>
          <p:cNvSpPr>
            <a:spLocks noGrp="1"/>
          </p:cNvSpPr>
          <p:nvPr>
            <p:ph type="title"/>
          </p:nvPr>
        </p:nvSpPr>
        <p:spPr>
          <a:xfrm>
            <a:off x="677333" y="587829"/>
            <a:ext cx="3854527" cy="908653"/>
          </a:xfrm>
        </p:spPr>
        <p:txBody>
          <a:bodyPr>
            <a:normAutofit/>
          </a:bodyPr>
          <a:lstStyle/>
          <a:p>
            <a:r>
              <a:rPr lang="en-US" sz="1600" b="1" u="sng" dirty="0">
                <a:solidFill>
                  <a:srgbClr val="FF0000"/>
                </a:solidFill>
              </a:rPr>
              <a:t>Ram and Rom Analysis Based on Price</a:t>
            </a:r>
            <a:endParaRPr lang="en-IN" sz="1600" b="1" u="sng" dirty="0">
              <a:solidFill>
                <a:srgbClr val="FF0000"/>
              </a:solidFill>
            </a:endParaRPr>
          </a:p>
        </p:txBody>
      </p:sp>
      <p:pic>
        <p:nvPicPr>
          <p:cNvPr id="6" name="Content Placeholder 5">
            <a:extLst>
              <a:ext uri="{FF2B5EF4-FFF2-40B4-BE49-F238E27FC236}">
                <a16:creationId xmlns:a16="http://schemas.microsoft.com/office/drawing/2014/main" id="{D789187F-4BF7-09C5-247C-792DCB1F146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60913" y="1632857"/>
            <a:ext cx="4513262" cy="4030825"/>
          </a:xfrm>
        </p:spPr>
      </p:pic>
      <p:sp>
        <p:nvSpPr>
          <p:cNvPr id="4" name="Text Placeholder 3">
            <a:extLst>
              <a:ext uri="{FF2B5EF4-FFF2-40B4-BE49-F238E27FC236}">
                <a16:creationId xmlns:a16="http://schemas.microsoft.com/office/drawing/2014/main" id="{53E80A92-8036-D778-1E44-EDD12FD960E7}"/>
              </a:ext>
            </a:extLst>
          </p:cNvPr>
          <p:cNvSpPr>
            <a:spLocks noGrp="1"/>
          </p:cNvSpPr>
          <p:nvPr>
            <p:ph type="body" sz="half" idx="2"/>
          </p:nvPr>
        </p:nvSpPr>
        <p:spPr>
          <a:xfrm>
            <a:off x="746449" y="1632856"/>
            <a:ext cx="4014464" cy="5075853"/>
          </a:xfrm>
        </p:spPr>
        <p:txBody>
          <a:bodyPr>
            <a:normAutofit/>
          </a:bodyPr>
          <a:lstStyle/>
          <a:p>
            <a:pPr marL="285750" indent="-285750" algn="just">
              <a:buFont typeface="Wingdings" panose="05000000000000000000" pitchFamily="2" charset="2"/>
              <a:buChar char="v"/>
            </a:pPr>
            <a:r>
              <a:rPr lang="en-US" b="1" dirty="0"/>
              <a:t>This bubble plot visualizes the relationship between RAM, ROM, and Price, with bubble sizes representing Ratings. </a:t>
            </a:r>
          </a:p>
          <a:p>
            <a:pPr marL="285750" indent="-285750" algn="just">
              <a:buFont typeface="Wingdings" panose="05000000000000000000" pitchFamily="2" charset="2"/>
              <a:buChar char="v"/>
            </a:pPr>
            <a:r>
              <a:rPr lang="en-US" b="1" dirty="0"/>
              <a:t>It clearly shows that smartphones with higher RAM (12GB–16GB) and ROM (256GB–512GB) tend to have significantly higher prices. Models with moderate configurations (6GB–8GB RAM, 128GB ROM) are the most common and receive more customer ratings, suggesting higher popularity and sales. </a:t>
            </a:r>
          </a:p>
          <a:p>
            <a:pPr marL="285750" indent="-285750" algn="just">
              <a:buFont typeface="Wingdings" panose="05000000000000000000" pitchFamily="2" charset="2"/>
              <a:buChar char="v"/>
            </a:pPr>
            <a:r>
              <a:rPr lang="en-US" b="1" dirty="0"/>
              <a:t>Devices with high memory configurations are positioned in the premium segment, appealing to performance-focused users. </a:t>
            </a:r>
          </a:p>
          <a:p>
            <a:pPr marL="285750" indent="-285750" algn="just">
              <a:buFont typeface="Wingdings" panose="05000000000000000000" pitchFamily="2" charset="2"/>
              <a:buChar char="v"/>
            </a:pPr>
            <a:r>
              <a:rPr lang="en-US" b="1" dirty="0"/>
              <a:t>Overall, this visualization highlights how storage and memory capacity directly influence smartphone pricing, while user ratings emphasize demand trends for mid-range configurations.</a:t>
            </a:r>
            <a:endParaRPr lang="en-IN" b="1" dirty="0"/>
          </a:p>
        </p:txBody>
      </p:sp>
    </p:spTree>
    <p:extLst>
      <p:ext uri="{BB962C8B-B14F-4D97-AF65-F5344CB8AC3E}">
        <p14:creationId xmlns:p14="http://schemas.microsoft.com/office/powerpoint/2010/main" val="8543855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AEED8-A980-A589-7B87-79C41879386E}"/>
              </a:ext>
            </a:extLst>
          </p:cNvPr>
          <p:cNvSpPr>
            <a:spLocks noGrp="1"/>
          </p:cNvSpPr>
          <p:nvPr>
            <p:ph type="title"/>
          </p:nvPr>
        </p:nvSpPr>
        <p:spPr/>
        <p:txBody>
          <a:bodyPr>
            <a:normAutofit fontScale="90000"/>
          </a:bodyPr>
          <a:lstStyle/>
          <a:p>
            <a:r>
              <a:rPr lang="en-US" sz="1800" b="1" u="sng" dirty="0">
                <a:solidFill>
                  <a:srgbClr val="FF0000"/>
                </a:solidFill>
              </a:rPr>
              <a:t>Ratings Analysis :</a:t>
            </a:r>
            <a:br>
              <a:rPr lang="en-US" sz="1600" dirty="0"/>
            </a:br>
            <a:r>
              <a:rPr lang="en-US" sz="1600" dirty="0"/>
              <a:t>Battery capacity and price show minimal correlation, indicating that higher battery power doesn’t always mean higher cost. Similarly, the KDE plot shows ratings mostly concentrated in lower price ranges, suggesting affordability often drives higher user engagement rather than premium pricing.</a:t>
            </a:r>
            <a:br>
              <a:rPr lang="en-US" sz="1600" dirty="0"/>
            </a:br>
            <a:endParaRPr lang="en-IN" sz="1600" dirty="0"/>
          </a:p>
        </p:txBody>
      </p:sp>
      <p:sp>
        <p:nvSpPr>
          <p:cNvPr id="5" name="Text Placeholder 4">
            <a:extLst>
              <a:ext uri="{FF2B5EF4-FFF2-40B4-BE49-F238E27FC236}">
                <a16:creationId xmlns:a16="http://schemas.microsoft.com/office/drawing/2014/main" id="{C0124C2C-93A8-7187-F45C-4A85214C4F73}"/>
              </a:ext>
            </a:extLst>
          </p:cNvPr>
          <p:cNvSpPr>
            <a:spLocks noGrp="1"/>
          </p:cNvSpPr>
          <p:nvPr>
            <p:ph type="body" sz="quarter" idx="3"/>
          </p:nvPr>
        </p:nvSpPr>
        <p:spPr/>
        <p:txBody>
          <a:bodyPr/>
          <a:lstStyle/>
          <a:p>
            <a:r>
              <a:rPr lang="en-US" dirty="0"/>
              <a:t>Joint plot: Price vs Ratings</a:t>
            </a:r>
            <a:endParaRPr lang="en-IN" dirty="0"/>
          </a:p>
        </p:txBody>
      </p:sp>
      <p:sp>
        <p:nvSpPr>
          <p:cNvPr id="3" name="Text Placeholder 2">
            <a:extLst>
              <a:ext uri="{FF2B5EF4-FFF2-40B4-BE49-F238E27FC236}">
                <a16:creationId xmlns:a16="http://schemas.microsoft.com/office/drawing/2014/main" id="{612AFEF2-88ED-6569-372E-F0F618C837E1}"/>
              </a:ext>
            </a:extLst>
          </p:cNvPr>
          <p:cNvSpPr>
            <a:spLocks noGrp="1"/>
          </p:cNvSpPr>
          <p:nvPr>
            <p:ph type="body" idx="1"/>
          </p:nvPr>
        </p:nvSpPr>
        <p:spPr/>
        <p:txBody>
          <a:bodyPr/>
          <a:lstStyle/>
          <a:p>
            <a:r>
              <a:rPr lang="en-US" dirty="0"/>
              <a:t>Joint plot: Battery vs Ratings</a:t>
            </a:r>
            <a:endParaRPr lang="en-IN" dirty="0"/>
          </a:p>
        </p:txBody>
      </p:sp>
      <p:pic>
        <p:nvPicPr>
          <p:cNvPr id="8" name="Content Placeholder 7">
            <a:extLst>
              <a:ext uri="{FF2B5EF4-FFF2-40B4-BE49-F238E27FC236}">
                <a16:creationId xmlns:a16="http://schemas.microsoft.com/office/drawing/2014/main" id="{51DBB41F-FD6A-98B3-B03E-F0F67A80F8EA}"/>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116012" y="2736850"/>
            <a:ext cx="3305175" cy="3305175"/>
          </a:xfrm>
        </p:spPr>
      </p:pic>
      <p:pic>
        <p:nvPicPr>
          <p:cNvPr id="10" name="Content Placeholder 9">
            <a:extLst>
              <a:ext uri="{FF2B5EF4-FFF2-40B4-BE49-F238E27FC236}">
                <a16:creationId xmlns:a16="http://schemas.microsoft.com/office/drawing/2014/main" id="{DF379DE9-15FE-56F7-AF37-B00149170DB2}"/>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5528469" y="2736850"/>
            <a:ext cx="3305175" cy="3305175"/>
          </a:xfrm>
        </p:spPr>
      </p:pic>
    </p:spTree>
    <p:extLst>
      <p:ext uri="{BB962C8B-B14F-4D97-AF65-F5344CB8AC3E}">
        <p14:creationId xmlns:p14="http://schemas.microsoft.com/office/powerpoint/2010/main" val="17275182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7E3E5-75E8-E22C-56E2-4F773A0FC58C}"/>
              </a:ext>
            </a:extLst>
          </p:cNvPr>
          <p:cNvSpPr>
            <a:spLocks noGrp="1"/>
          </p:cNvSpPr>
          <p:nvPr>
            <p:ph type="title"/>
          </p:nvPr>
        </p:nvSpPr>
        <p:spPr>
          <a:xfrm>
            <a:off x="513184" y="514924"/>
            <a:ext cx="3582955" cy="399476"/>
          </a:xfrm>
        </p:spPr>
        <p:txBody>
          <a:bodyPr>
            <a:normAutofit/>
          </a:bodyPr>
          <a:lstStyle/>
          <a:p>
            <a:r>
              <a:rPr lang="en-US" sz="1200" b="1" u="sng" dirty="0">
                <a:solidFill>
                  <a:srgbClr val="FF0000"/>
                </a:solidFill>
              </a:rPr>
              <a:t>Price Analysis based on Ratings Across brands</a:t>
            </a:r>
            <a:endParaRPr lang="en-IN" sz="1200" b="1" u="sng" dirty="0">
              <a:solidFill>
                <a:srgbClr val="FF0000"/>
              </a:solidFill>
            </a:endParaRPr>
          </a:p>
        </p:txBody>
      </p:sp>
      <p:pic>
        <p:nvPicPr>
          <p:cNvPr id="6" name="Content Placeholder 5">
            <a:extLst>
              <a:ext uri="{FF2B5EF4-FFF2-40B4-BE49-F238E27FC236}">
                <a16:creationId xmlns:a16="http://schemas.microsoft.com/office/drawing/2014/main" id="{AB64008B-9C17-EA89-0C1C-D0031AED063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60913" y="821094"/>
            <a:ext cx="4513262" cy="5243804"/>
          </a:xfrm>
        </p:spPr>
      </p:pic>
      <p:sp>
        <p:nvSpPr>
          <p:cNvPr id="4" name="Text Placeholder 3">
            <a:extLst>
              <a:ext uri="{FF2B5EF4-FFF2-40B4-BE49-F238E27FC236}">
                <a16:creationId xmlns:a16="http://schemas.microsoft.com/office/drawing/2014/main" id="{10595CCB-F70C-26C6-C66C-9A5939420E37}"/>
              </a:ext>
            </a:extLst>
          </p:cNvPr>
          <p:cNvSpPr>
            <a:spLocks noGrp="1"/>
          </p:cNvSpPr>
          <p:nvPr>
            <p:ph type="body" sz="half" idx="2"/>
          </p:nvPr>
        </p:nvSpPr>
        <p:spPr>
          <a:xfrm>
            <a:off x="565427" y="1017037"/>
            <a:ext cx="3862873" cy="4823925"/>
          </a:xfrm>
        </p:spPr>
        <p:txBody>
          <a:bodyPr>
            <a:noAutofit/>
          </a:bodyPr>
          <a:lstStyle/>
          <a:p>
            <a:r>
              <a:rPr lang="en-US" sz="900" dirty="0"/>
              <a:t>Insights</a:t>
            </a:r>
          </a:p>
          <a:p>
            <a:pPr marL="799963" lvl="1" indent="-342900" algn="just">
              <a:buFont typeface="Wingdings" panose="05000000000000000000" pitchFamily="2" charset="2"/>
              <a:buChar char="v"/>
            </a:pPr>
            <a:r>
              <a:rPr lang="en-US" sz="900" dirty="0"/>
              <a:t>High Ratings Are Not </a:t>
            </a:r>
            <a:r>
              <a:rPr lang="en-US" sz="900" dirty="0" err="1"/>
              <a:t>Price-Dependent:Even</a:t>
            </a:r>
            <a:r>
              <a:rPr lang="en-US" sz="900" dirty="0"/>
              <a:t> low-priced phones (especially from Redmi and Realme) have high ratings, showing that value and performance matter more than price</a:t>
            </a:r>
          </a:p>
          <a:p>
            <a:pPr marL="799963" lvl="1" indent="-342900" algn="just">
              <a:buFont typeface="Wingdings" panose="05000000000000000000" pitchFamily="2" charset="2"/>
              <a:buChar char="v"/>
            </a:pPr>
            <a:r>
              <a:rPr lang="en-US" sz="900" dirty="0"/>
              <a:t>Brand </a:t>
            </a:r>
            <a:r>
              <a:rPr lang="en-US" sz="900" dirty="0" err="1"/>
              <a:t>Positioning:Samsung</a:t>
            </a:r>
            <a:r>
              <a:rPr lang="en-US" sz="900" dirty="0"/>
              <a:t> spans all price tiers but faces competition from Redmi and Realme in the mid-range due to similar or better ratings at lower prices.</a:t>
            </a:r>
          </a:p>
          <a:p>
            <a:pPr marL="799963" lvl="1" indent="-342900" algn="just">
              <a:buFont typeface="Wingdings" panose="05000000000000000000" pitchFamily="2" charset="2"/>
              <a:buChar char="v"/>
            </a:pPr>
            <a:r>
              <a:rPr lang="en-US" sz="900" dirty="0"/>
              <a:t>Budget and Mid-Range Phones </a:t>
            </a:r>
            <a:r>
              <a:rPr lang="en-US" sz="900" dirty="0" err="1"/>
              <a:t>Dominate:Most</a:t>
            </a:r>
            <a:r>
              <a:rPr lang="en-US" sz="900" dirty="0"/>
              <a:t> brands have a strong presence below ₹40,000, reflecting consumer preference for affordable models.</a:t>
            </a:r>
          </a:p>
          <a:p>
            <a:pPr marL="799963" lvl="1" indent="-342900" algn="just">
              <a:buFont typeface="Wingdings" panose="05000000000000000000" pitchFamily="2" charset="2"/>
              <a:buChar char="v"/>
            </a:pPr>
            <a:r>
              <a:rPr lang="en-US" sz="900" dirty="0"/>
              <a:t>User </a:t>
            </a:r>
            <a:r>
              <a:rPr lang="en-US" sz="900" dirty="0" err="1"/>
              <a:t>Satisfaction:Redmi</a:t>
            </a:r>
            <a:r>
              <a:rPr lang="en-US" sz="900" dirty="0"/>
              <a:t> and Realme consistently achieve higher ratings, suggesting strong consumer trust in budget-friendly performance.</a:t>
            </a:r>
          </a:p>
          <a:p>
            <a:pPr marL="342900" indent="-342900" algn="just">
              <a:buFont typeface="Wingdings" panose="05000000000000000000" pitchFamily="2" charset="2"/>
              <a:buChar char="v"/>
            </a:pPr>
            <a:r>
              <a:rPr lang="en-US" sz="900" dirty="0"/>
              <a:t>Conclusion:</a:t>
            </a:r>
          </a:p>
          <a:p>
            <a:pPr marL="799963" lvl="1" indent="-342900" algn="just">
              <a:buFont typeface="Wingdings" panose="05000000000000000000" pitchFamily="2" charset="2"/>
              <a:buChar char="q"/>
            </a:pPr>
            <a:r>
              <a:rPr lang="en-US" sz="900" dirty="0"/>
              <a:t> The scatter plot shows that Redmi and Realme dominate the mid-range smartphone segment, earning high ratings despite lower prices. </a:t>
            </a:r>
          </a:p>
          <a:p>
            <a:pPr marL="799963" lvl="1" indent="-342900" algn="just">
              <a:buFont typeface="Wingdings" panose="05000000000000000000" pitchFamily="2" charset="2"/>
              <a:buChar char="q"/>
            </a:pPr>
            <a:r>
              <a:rPr lang="en-US" sz="900" dirty="0"/>
              <a:t>Samsung covers all price categories, including premium models, but its ratings are similar to those of mid-range competitors, indicating that higher cost doesn’t guarantee better user satisfaction. </a:t>
            </a:r>
          </a:p>
          <a:p>
            <a:pPr marL="799963" lvl="1" indent="-342900" algn="just">
              <a:buFont typeface="Wingdings" panose="05000000000000000000" pitchFamily="2" charset="2"/>
              <a:buChar char="q"/>
            </a:pPr>
            <a:r>
              <a:rPr lang="en-US" sz="900" dirty="0"/>
              <a:t>Oppo and Vivo also perform well in the mid-tier market with steady ratings. Overall, the data suggests that affordable smartphones deliver comparable quality and satisfaction to high-end models, highlighting a strong consumer preference for value-driven brands like Redmi and Realme in the Indian smartphone market.</a:t>
            </a:r>
            <a:endParaRPr lang="en-IN" sz="900" dirty="0"/>
          </a:p>
        </p:txBody>
      </p:sp>
    </p:spTree>
    <p:extLst>
      <p:ext uri="{BB962C8B-B14F-4D97-AF65-F5344CB8AC3E}">
        <p14:creationId xmlns:p14="http://schemas.microsoft.com/office/powerpoint/2010/main" val="223825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BBCAE-302A-25F9-705C-623571EB7531}"/>
              </a:ext>
            </a:extLst>
          </p:cNvPr>
          <p:cNvSpPr>
            <a:spLocks noGrp="1"/>
          </p:cNvSpPr>
          <p:nvPr>
            <p:ph type="title"/>
          </p:nvPr>
        </p:nvSpPr>
        <p:spPr>
          <a:xfrm>
            <a:off x="597159" y="559837"/>
            <a:ext cx="3854529" cy="503853"/>
          </a:xfrm>
        </p:spPr>
        <p:txBody>
          <a:bodyPr>
            <a:normAutofit/>
          </a:bodyPr>
          <a:lstStyle/>
          <a:p>
            <a:r>
              <a:rPr lang="en-US" sz="1800" b="1" u="sng" dirty="0">
                <a:solidFill>
                  <a:srgbClr val="FF0000"/>
                </a:solidFill>
              </a:rPr>
              <a:t>Processor Analysis Based on price</a:t>
            </a:r>
            <a:endParaRPr lang="en-IN" sz="1800" b="1" u="sng" dirty="0">
              <a:solidFill>
                <a:srgbClr val="FF0000"/>
              </a:solidFill>
            </a:endParaRPr>
          </a:p>
        </p:txBody>
      </p:sp>
      <p:pic>
        <p:nvPicPr>
          <p:cNvPr id="6" name="Content Placeholder 5">
            <a:extLst>
              <a:ext uri="{FF2B5EF4-FFF2-40B4-BE49-F238E27FC236}">
                <a16:creationId xmlns:a16="http://schemas.microsoft.com/office/drawing/2014/main" id="{11754375-F145-25D9-DD80-11909A58461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88905" y="998376"/>
            <a:ext cx="4513262" cy="4795934"/>
          </a:xfrm>
        </p:spPr>
      </p:pic>
      <p:sp>
        <p:nvSpPr>
          <p:cNvPr id="4" name="Text Placeholder 3">
            <a:extLst>
              <a:ext uri="{FF2B5EF4-FFF2-40B4-BE49-F238E27FC236}">
                <a16:creationId xmlns:a16="http://schemas.microsoft.com/office/drawing/2014/main" id="{5DBC82C9-EF08-57C4-7BE8-2DB476681DF3}"/>
              </a:ext>
            </a:extLst>
          </p:cNvPr>
          <p:cNvSpPr>
            <a:spLocks noGrp="1"/>
          </p:cNvSpPr>
          <p:nvPr>
            <p:ph type="body" sz="half" idx="2"/>
          </p:nvPr>
        </p:nvSpPr>
        <p:spPr>
          <a:xfrm>
            <a:off x="677333" y="1315616"/>
            <a:ext cx="3854529" cy="4599991"/>
          </a:xfrm>
        </p:spPr>
        <p:txBody>
          <a:bodyPr>
            <a:normAutofit fontScale="92500" lnSpcReduction="10000"/>
          </a:bodyPr>
          <a:lstStyle/>
          <a:p>
            <a:pPr marL="285750" indent="-285750" algn="just">
              <a:buFont typeface="Wingdings" panose="05000000000000000000" pitchFamily="2" charset="2"/>
              <a:buChar char="v"/>
            </a:pPr>
            <a:r>
              <a:rPr lang="en-US" dirty="0"/>
              <a:t>This bar plot illustrates the </a:t>
            </a:r>
            <a:r>
              <a:rPr lang="en-US" b="1" dirty="0"/>
              <a:t>average smartphone price by processor type</a:t>
            </a:r>
            <a:r>
              <a:rPr lang="en-US" dirty="0"/>
              <a:t>, revealing that premium processors like </a:t>
            </a:r>
            <a:r>
              <a:rPr lang="en-US" b="1" dirty="0"/>
              <a:t>Snapdragon 8 Elite for Galaxy</a:t>
            </a:r>
            <a:r>
              <a:rPr lang="en-US" dirty="0"/>
              <a:t> and </a:t>
            </a:r>
            <a:r>
              <a:rPr lang="en-US" b="1" dirty="0"/>
              <a:t>Snapdragon 8 Gen 3</a:t>
            </a:r>
            <a:r>
              <a:rPr lang="en-US" dirty="0"/>
              <a:t> command the highest prices, exceeding ₹1,00,000. </a:t>
            </a:r>
          </a:p>
          <a:p>
            <a:pPr marL="285750" indent="-285750" algn="just">
              <a:buFont typeface="Wingdings" panose="05000000000000000000" pitchFamily="2" charset="2"/>
              <a:buChar char="v"/>
            </a:pPr>
            <a:r>
              <a:rPr lang="en-US" dirty="0"/>
              <a:t>These processors are typically found in flagship models, emphasizing top-tier performance and efficiency. </a:t>
            </a:r>
          </a:p>
          <a:p>
            <a:pPr marL="285750" indent="-285750" algn="just">
              <a:buFont typeface="Wingdings" panose="05000000000000000000" pitchFamily="2" charset="2"/>
              <a:buChar char="v"/>
            </a:pPr>
            <a:r>
              <a:rPr lang="en-US" b="1" dirty="0" err="1"/>
              <a:t>Exynos</a:t>
            </a:r>
            <a:r>
              <a:rPr lang="en-US" b="1" dirty="0"/>
              <a:t> 2400</a:t>
            </a:r>
            <a:r>
              <a:rPr lang="en-US" dirty="0"/>
              <a:t> and </a:t>
            </a:r>
            <a:r>
              <a:rPr lang="en-US" b="1" dirty="0" err="1"/>
              <a:t>Dimensity</a:t>
            </a:r>
            <a:r>
              <a:rPr lang="en-US" b="1" dirty="0"/>
              <a:t> 9200+</a:t>
            </a:r>
            <a:r>
              <a:rPr lang="en-US" dirty="0"/>
              <a:t> also belong to the upper mid-range segment, balancing cost and performance. </a:t>
            </a:r>
          </a:p>
          <a:p>
            <a:pPr marL="285750" indent="-285750" algn="just">
              <a:buFont typeface="Wingdings" panose="05000000000000000000" pitchFamily="2" charset="2"/>
              <a:buChar char="v"/>
            </a:pPr>
            <a:r>
              <a:rPr lang="en-US" dirty="0"/>
              <a:t>Meanwhile, processors such as </a:t>
            </a:r>
            <a:r>
              <a:rPr lang="en-US" b="1" dirty="0" err="1"/>
              <a:t>Dimensity</a:t>
            </a:r>
            <a:r>
              <a:rPr lang="en-US" b="1" dirty="0"/>
              <a:t> 8100</a:t>
            </a:r>
            <a:r>
              <a:rPr lang="en-US" dirty="0"/>
              <a:t>, </a:t>
            </a:r>
            <a:r>
              <a:rPr lang="en-US" b="1" dirty="0" err="1"/>
              <a:t>Exynos</a:t>
            </a:r>
            <a:r>
              <a:rPr lang="en-US" b="1" dirty="0"/>
              <a:t> 1580</a:t>
            </a:r>
            <a:r>
              <a:rPr lang="en-US" dirty="0"/>
              <a:t>, and </a:t>
            </a:r>
            <a:r>
              <a:rPr lang="en-US" b="1" dirty="0" err="1"/>
              <a:t>Dimensity</a:t>
            </a:r>
            <a:r>
              <a:rPr lang="en-US" b="1" dirty="0"/>
              <a:t> 8400-MAX</a:t>
            </a:r>
            <a:r>
              <a:rPr lang="en-US" dirty="0"/>
              <a:t> are associated with more affordable devices.</a:t>
            </a:r>
          </a:p>
          <a:p>
            <a:pPr marL="285750" indent="-285750" algn="just">
              <a:buFont typeface="Wingdings" panose="05000000000000000000" pitchFamily="2" charset="2"/>
              <a:buChar char="v"/>
            </a:pPr>
            <a:r>
              <a:rPr lang="en-US" dirty="0"/>
              <a:t> Overall, this visualization highlights how </a:t>
            </a:r>
            <a:r>
              <a:rPr lang="en-US" b="1" dirty="0"/>
              <a:t>processor type significantly influences smartphone pricing</a:t>
            </a:r>
            <a:r>
              <a:rPr lang="en-US" dirty="0"/>
              <a:t>, reflecting its role in performance, power efficiency, and market positioning.</a:t>
            </a:r>
            <a:endParaRPr lang="en-IN" dirty="0"/>
          </a:p>
        </p:txBody>
      </p:sp>
    </p:spTree>
    <p:extLst>
      <p:ext uri="{BB962C8B-B14F-4D97-AF65-F5344CB8AC3E}">
        <p14:creationId xmlns:p14="http://schemas.microsoft.com/office/powerpoint/2010/main" val="3710951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AF837-D1BC-9ECE-89FA-2F5D81256A86}"/>
              </a:ext>
            </a:extLst>
          </p:cNvPr>
          <p:cNvSpPr>
            <a:spLocks noGrp="1"/>
          </p:cNvSpPr>
          <p:nvPr>
            <p:ph type="title"/>
          </p:nvPr>
        </p:nvSpPr>
        <p:spPr>
          <a:xfrm>
            <a:off x="597160" y="429208"/>
            <a:ext cx="3648270" cy="419878"/>
          </a:xfrm>
        </p:spPr>
        <p:txBody>
          <a:bodyPr>
            <a:normAutofit/>
          </a:bodyPr>
          <a:lstStyle/>
          <a:p>
            <a:r>
              <a:rPr lang="en-US" sz="1400" b="1" u="sng" dirty="0">
                <a:solidFill>
                  <a:srgbClr val="FF0000"/>
                </a:solidFill>
              </a:rPr>
              <a:t>Pair plot Analysis for different Indicators</a:t>
            </a:r>
            <a:endParaRPr lang="en-IN" sz="1400" b="1" u="sng" dirty="0">
              <a:solidFill>
                <a:srgbClr val="FF0000"/>
              </a:solidFill>
            </a:endParaRPr>
          </a:p>
        </p:txBody>
      </p:sp>
      <p:pic>
        <p:nvPicPr>
          <p:cNvPr id="6" name="Content Placeholder 5">
            <a:extLst>
              <a:ext uri="{FF2B5EF4-FFF2-40B4-BE49-F238E27FC236}">
                <a16:creationId xmlns:a16="http://schemas.microsoft.com/office/drawing/2014/main" id="{9D494083-B50B-71E7-F464-E36F2791663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60913" y="522514"/>
            <a:ext cx="4513262" cy="5887617"/>
          </a:xfrm>
        </p:spPr>
      </p:pic>
      <p:sp>
        <p:nvSpPr>
          <p:cNvPr id="4" name="Text Placeholder 3">
            <a:extLst>
              <a:ext uri="{FF2B5EF4-FFF2-40B4-BE49-F238E27FC236}">
                <a16:creationId xmlns:a16="http://schemas.microsoft.com/office/drawing/2014/main" id="{917BB156-E102-F196-7CA6-B6CD4C48F76C}"/>
              </a:ext>
            </a:extLst>
          </p:cNvPr>
          <p:cNvSpPr>
            <a:spLocks noGrp="1"/>
          </p:cNvSpPr>
          <p:nvPr>
            <p:ph type="body" sz="half" idx="2"/>
          </p:nvPr>
        </p:nvSpPr>
        <p:spPr>
          <a:xfrm>
            <a:off x="597160" y="941433"/>
            <a:ext cx="3974840" cy="5011498"/>
          </a:xfrm>
        </p:spPr>
        <p:txBody>
          <a:bodyPr>
            <a:normAutofit fontScale="92500" lnSpcReduction="10000"/>
          </a:bodyPr>
          <a:lstStyle/>
          <a:p>
            <a:pPr marL="285750" indent="-285750" algn="just">
              <a:buFont typeface="Wingdings" panose="05000000000000000000" pitchFamily="2" charset="2"/>
              <a:buChar char="v"/>
            </a:pPr>
            <a:r>
              <a:rPr lang="en-US" dirty="0"/>
              <a:t>This </a:t>
            </a:r>
            <a:r>
              <a:rPr lang="en-US" b="1" dirty="0"/>
              <a:t>pair plot</a:t>
            </a:r>
            <a:r>
              <a:rPr lang="en-US" dirty="0"/>
              <a:t> provides a multivariate analysis of key smartphone features such as </a:t>
            </a:r>
            <a:r>
              <a:rPr lang="en-US" b="1" dirty="0"/>
              <a:t>Price</a:t>
            </a:r>
            <a:r>
              <a:rPr lang="en-US" dirty="0"/>
              <a:t>, </a:t>
            </a:r>
            <a:r>
              <a:rPr lang="en-US" b="1" dirty="0"/>
              <a:t>Battery</a:t>
            </a:r>
            <a:r>
              <a:rPr lang="en-US" dirty="0"/>
              <a:t>, </a:t>
            </a:r>
            <a:r>
              <a:rPr lang="en-US" b="1" dirty="0"/>
              <a:t>Ratings</a:t>
            </a:r>
            <a:r>
              <a:rPr lang="en-US" dirty="0"/>
              <a:t>, </a:t>
            </a:r>
            <a:r>
              <a:rPr lang="en-US" b="1" dirty="0"/>
              <a:t>Reviews</a:t>
            </a:r>
            <a:r>
              <a:rPr lang="en-US" dirty="0"/>
              <a:t>, </a:t>
            </a:r>
            <a:r>
              <a:rPr lang="en-US" b="1" dirty="0"/>
              <a:t>RAM</a:t>
            </a:r>
            <a:r>
              <a:rPr lang="en-US" dirty="0"/>
              <a:t>, </a:t>
            </a:r>
            <a:r>
              <a:rPr lang="en-US" b="1" dirty="0"/>
              <a:t>ROM</a:t>
            </a:r>
            <a:r>
              <a:rPr lang="en-US" dirty="0"/>
              <a:t>, and </a:t>
            </a:r>
            <a:r>
              <a:rPr lang="en-US" b="1" dirty="0"/>
              <a:t>Display Size</a:t>
            </a:r>
            <a:r>
              <a:rPr lang="en-US" dirty="0"/>
              <a:t>.</a:t>
            </a:r>
          </a:p>
          <a:p>
            <a:pPr marL="285750" indent="-285750" algn="just">
              <a:buFont typeface="Wingdings" panose="05000000000000000000" pitchFamily="2" charset="2"/>
              <a:buChar char="v"/>
            </a:pPr>
            <a:r>
              <a:rPr lang="en-US" dirty="0"/>
              <a:t>From the visualization:</a:t>
            </a:r>
          </a:p>
          <a:p>
            <a:pPr marL="742813" lvl="1" indent="-285750" algn="just">
              <a:buFont typeface="Wingdings" panose="05000000000000000000" pitchFamily="2" charset="2"/>
              <a:buChar char="v"/>
            </a:pPr>
            <a:r>
              <a:rPr lang="en-US" b="1" dirty="0"/>
              <a:t>Price</a:t>
            </a:r>
            <a:r>
              <a:rPr lang="en-US" dirty="0"/>
              <a:t> shows a weak positive relationship with </a:t>
            </a:r>
            <a:r>
              <a:rPr lang="en-US" b="1" dirty="0"/>
              <a:t>RAM</a:t>
            </a:r>
            <a:r>
              <a:rPr lang="en-US" dirty="0"/>
              <a:t> and </a:t>
            </a:r>
            <a:r>
              <a:rPr lang="en-US" b="1" dirty="0"/>
              <a:t>ROM</a:t>
            </a:r>
            <a:r>
              <a:rPr lang="en-US" dirty="0"/>
              <a:t>, suggesting higher-priced phones tend to have better memory configurations.</a:t>
            </a:r>
          </a:p>
          <a:p>
            <a:pPr marL="742813" lvl="1" indent="-285750" algn="just">
              <a:buFont typeface="Wingdings" panose="05000000000000000000" pitchFamily="2" charset="2"/>
              <a:buChar char="v"/>
            </a:pPr>
            <a:r>
              <a:rPr lang="en-US" b="1" dirty="0"/>
              <a:t>Battery</a:t>
            </a:r>
            <a:r>
              <a:rPr lang="en-US" dirty="0"/>
              <a:t> capacity does not show a strong correlation with price, indicating that even mid-range phones often offer large batteries.</a:t>
            </a:r>
          </a:p>
          <a:p>
            <a:pPr marL="742813" lvl="1" indent="-285750" algn="just">
              <a:buFont typeface="Wingdings" panose="05000000000000000000" pitchFamily="2" charset="2"/>
              <a:buChar char="v"/>
            </a:pPr>
            <a:r>
              <a:rPr lang="en-US" b="1" dirty="0"/>
              <a:t>Ratings</a:t>
            </a:r>
            <a:r>
              <a:rPr lang="en-US" dirty="0"/>
              <a:t> and </a:t>
            </a:r>
            <a:r>
              <a:rPr lang="en-US" b="1" dirty="0"/>
              <a:t>Reviews</a:t>
            </a:r>
            <a:r>
              <a:rPr lang="en-US" dirty="0"/>
              <a:t> are widely scattered, meaning customer feedback varies across all price ranges.</a:t>
            </a:r>
          </a:p>
          <a:p>
            <a:pPr marL="742813" lvl="1" indent="-285750" algn="just">
              <a:buFont typeface="Wingdings" panose="05000000000000000000" pitchFamily="2" charset="2"/>
              <a:buChar char="v"/>
            </a:pPr>
            <a:r>
              <a:rPr lang="en-US" b="1" dirty="0"/>
              <a:t>Display size</a:t>
            </a:r>
            <a:r>
              <a:rPr lang="en-US" dirty="0"/>
              <a:t> slightly increases with price and RAM, showing that premium devices generally feature larger displays.</a:t>
            </a:r>
          </a:p>
          <a:p>
            <a:pPr marL="285750" indent="-285750" algn="just">
              <a:buFont typeface="Wingdings" panose="05000000000000000000" pitchFamily="2" charset="2"/>
              <a:buChar char="v"/>
            </a:pPr>
            <a:r>
              <a:rPr lang="en-US" dirty="0"/>
              <a:t>Overall, the pair plot highlights </a:t>
            </a:r>
            <a:r>
              <a:rPr lang="en-US" b="1" dirty="0"/>
              <a:t>moderate relationships among technical specifications and price</a:t>
            </a:r>
            <a:r>
              <a:rPr lang="en-US" dirty="0"/>
              <a:t>, while user-driven metrics like ratings remain independent.</a:t>
            </a:r>
          </a:p>
          <a:p>
            <a:endParaRPr lang="en-IN" dirty="0"/>
          </a:p>
        </p:txBody>
      </p:sp>
    </p:spTree>
    <p:extLst>
      <p:ext uri="{BB962C8B-B14F-4D97-AF65-F5344CB8AC3E}">
        <p14:creationId xmlns:p14="http://schemas.microsoft.com/office/powerpoint/2010/main" val="14723988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350C8-2BD7-7DB5-572E-4FD6961B462A}"/>
              </a:ext>
            </a:extLst>
          </p:cNvPr>
          <p:cNvSpPr>
            <a:spLocks noGrp="1"/>
          </p:cNvSpPr>
          <p:nvPr>
            <p:ph type="ctrTitle"/>
          </p:nvPr>
        </p:nvSpPr>
        <p:spPr>
          <a:xfrm>
            <a:off x="1129005" y="363894"/>
            <a:ext cx="6904652" cy="905069"/>
          </a:xfrm>
        </p:spPr>
        <p:txBody>
          <a:bodyPr/>
          <a:lstStyle/>
          <a:p>
            <a:pPr algn="l"/>
            <a:r>
              <a:rPr lang="en-IN" sz="2400" b="1" u="sng" dirty="0">
                <a:solidFill>
                  <a:srgbClr val="FF0000"/>
                </a:solidFill>
              </a:rPr>
              <a:t>Challenges &amp; Learnings </a:t>
            </a:r>
            <a:br>
              <a:rPr lang="en-IN" sz="2400" b="1" u="sng" dirty="0">
                <a:solidFill>
                  <a:srgbClr val="FF0000"/>
                </a:solidFill>
              </a:rPr>
            </a:br>
            <a:endParaRPr lang="en-IN" sz="2400" u="sng" dirty="0">
              <a:solidFill>
                <a:srgbClr val="FF0000"/>
              </a:solidFill>
            </a:endParaRPr>
          </a:p>
        </p:txBody>
      </p:sp>
      <p:sp>
        <p:nvSpPr>
          <p:cNvPr id="3" name="Subtitle 2">
            <a:extLst>
              <a:ext uri="{FF2B5EF4-FFF2-40B4-BE49-F238E27FC236}">
                <a16:creationId xmlns:a16="http://schemas.microsoft.com/office/drawing/2014/main" id="{86DB9216-D541-3BC2-02CE-34EFC7799176}"/>
              </a:ext>
            </a:extLst>
          </p:cNvPr>
          <p:cNvSpPr>
            <a:spLocks noGrp="1"/>
          </p:cNvSpPr>
          <p:nvPr>
            <p:ph type="subTitle" idx="1"/>
          </p:nvPr>
        </p:nvSpPr>
        <p:spPr>
          <a:xfrm>
            <a:off x="1129005" y="1063691"/>
            <a:ext cx="8144998" cy="4618652"/>
          </a:xfrm>
        </p:spPr>
        <p:txBody>
          <a:bodyPr>
            <a:normAutofit fontScale="25000" lnSpcReduction="20000"/>
          </a:bodyPr>
          <a:lstStyle/>
          <a:p>
            <a:pPr algn="just"/>
            <a:r>
              <a:rPr lang="en-US" sz="8000" b="1" u="sng" dirty="0">
                <a:solidFill>
                  <a:schemeClr val="tx1"/>
                </a:solidFill>
              </a:rPr>
              <a:t>Challenges Faced:</a:t>
            </a:r>
          </a:p>
          <a:p>
            <a:pPr marL="1600200" lvl="1" indent="-1143000" algn="just">
              <a:buFont typeface="Wingdings" panose="05000000000000000000" pitchFamily="2" charset="2"/>
              <a:buChar char="v"/>
            </a:pPr>
            <a:r>
              <a:rPr lang="en-US" sz="7800" dirty="0">
                <a:solidFill>
                  <a:schemeClr val="tx1"/>
                </a:solidFill>
              </a:rPr>
              <a:t>Collecting consistent mobile specifications from multiple product pages.</a:t>
            </a:r>
          </a:p>
          <a:p>
            <a:pPr marL="1600200" lvl="1" indent="-1143000" algn="just">
              <a:buFont typeface="Wingdings" panose="05000000000000000000" pitchFamily="2" charset="2"/>
              <a:buChar char="v"/>
            </a:pPr>
            <a:r>
              <a:rPr lang="en-US" sz="7800" dirty="0">
                <a:solidFill>
                  <a:schemeClr val="tx1"/>
                </a:solidFill>
              </a:rPr>
              <a:t>Extracting and cleaning text with symbols and commas in numeric fields.</a:t>
            </a:r>
          </a:p>
          <a:p>
            <a:pPr marL="1600200" lvl="1" indent="-1143000" algn="just">
              <a:buFont typeface="Wingdings" panose="05000000000000000000" pitchFamily="2" charset="2"/>
              <a:buChar char="v"/>
            </a:pPr>
            <a:r>
              <a:rPr lang="en-US" sz="7800" dirty="0">
                <a:solidFill>
                  <a:schemeClr val="tx1"/>
                </a:solidFill>
              </a:rPr>
              <a:t>Handling missing or duplicate values in product listings.</a:t>
            </a:r>
          </a:p>
          <a:p>
            <a:pPr marL="1600200" lvl="1" indent="-1143000" algn="just">
              <a:buFont typeface="Wingdings" panose="05000000000000000000" pitchFamily="2" charset="2"/>
              <a:buChar char="v"/>
            </a:pPr>
            <a:r>
              <a:rPr lang="en-US" sz="7800" dirty="0">
                <a:solidFill>
                  <a:schemeClr val="tx1"/>
                </a:solidFill>
              </a:rPr>
              <a:t>Converting and formatting prices, ratings, and reviews for analysis.</a:t>
            </a:r>
          </a:p>
          <a:p>
            <a:pPr algn="just"/>
            <a:r>
              <a:rPr lang="en-US" sz="8000" b="1" u="sng" dirty="0">
                <a:solidFill>
                  <a:schemeClr val="tx1"/>
                </a:solidFill>
              </a:rPr>
              <a:t>Learnings</a:t>
            </a:r>
            <a:r>
              <a:rPr lang="en-US" sz="8000" u="sng" dirty="0"/>
              <a:t>:</a:t>
            </a:r>
          </a:p>
          <a:p>
            <a:pPr marL="1600200" lvl="1" indent="-1143000" algn="just">
              <a:buFont typeface="Wingdings" panose="05000000000000000000" pitchFamily="2" charset="2"/>
              <a:buChar char="v"/>
            </a:pPr>
            <a:r>
              <a:rPr lang="en-US" sz="7800" dirty="0">
                <a:solidFill>
                  <a:schemeClr val="tx1"/>
                </a:solidFill>
              </a:rPr>
              <a:t>Improved knowledge of </a:t>
            </a:r>
            <a:r>
              <a:rPr lang="en-US" sz="7800" b="1" dirty="0">
                <a:solidFill>
                  <a:schemeClr val="tx1"/>
                </a:solidFill>
              </a:rPr>
              <a:t>web scraping, data preprocessing, and visualization</a:t>
            </a:r>
            <a:r>
              <a:rPr lang="en-US" sz="7800" dirty="0">
                <a:solidFill>
                  <a:schemeClr val="tx1"/>
                </a:solidFill>
              </a:rPr>
              <a:t> using Python.</a:t>
            </a:r>
          </a:p>
          <a:p>
            <a:pPr marL="1600200" lvl="1" indent="-1143000" algn="just">
              <a:buFont typeface="Wingdings" panose="05000000000000000000" pitchFamily="2" charset="2"/>
              <a:buChar char="v"/>
            </a:pPr>
            <a:r>
              <a:rPr lang="en-US" sz="7800" dirty="0">
                <a:solidFill>
                  <a:schemeClr val="tx1"/>
                </a:solidFill>
              </a:rPr>
              <a:t>Gained strong understanding of </a:t>
            </a:r>
            <a:r>
              <a:rPr lang="en-US" sz="7800" b="1" dirty="0">
                <a:solidFill>
                  <a:schemeClr val="tx1"/>
                </a:solidFill>
              </a:rPr>
              <a:t>EDA techniques</a:t>
            </a:r>
            <a:r>
              <a:rPr lang="en-US" sz="7800" dirty="0">
                <a:solidFill>
                  <a:schemeClr val="tx1"/>
                </a:solidFill>
              </a:rPr>
              <a:t> to find patterns and insights.</a:t>
            </a:r>
          </a:p>
          <a:p>
            <a:pPr marL="1600200" lvl="1" indent="-1143000" algn="just">
              <a:buFont typeface="Wingdings" panose="05000000000000000000" pitchFamily="2" charset="2"/>
              <a:buChar char="v"/>
            </a:pPr>
            <a:r>
              <a:rPr lang="en-US" sz="7800" dirty="0">
                <a:solidFill>
                  <a:schemeClr val="tx1"/>
                </a:solidFill>
              </a:rPr>
              <a:t>Enhanced ability to handle </a:t>
            </a:r>
            <a:r>
              <a:rPr lang="en-US" sz="7800" b="1" dirty="0">
                <a:solidFill>
                  <a:schemeClr val="tx1"/>
                </a:solidFill>
              </a:rPr>
              <a:t>real-world messy data</a:t>
            </a:r>
            <a:r>
              <a:rPr lang="en-US" sz="7800" dirty="0">
                <a:solidFill>
                  <a:schemeClr val="tx1"/>
                </a:solidFill>
              </a:rPr>
              <a:t> effectively</a:t>
            </a:r>
            <a:r>
              <a:rPr lang="en-US" sz="7800" dirty="0"/>
              <a:t>.</a:t>
            </a:r>
          </a:p>
          <a:p>
            <a:endParaRPr lang="en-IN" dirty="0"/>
          </a:p>
        </p:txBody>
      </p:sp>
    </p:spTree>
    <p:extLst>
      <p:ext uri="{BB962C8B-B14F-4D97-AF65-F5344CB8AC3E}">
        <p14:creationId xmlns:p14="http://schemas.microsoft.com/office/powerpoint/2010/main" val="29329598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22181-08AB-2814-45DF-856AA895CF0D}"/>
              </a:ext>
            </a:extLst>
          </p:cNvPr>
          <p:cNvSpPr>
            <a:spLocks noGrp="1"/>
          </p:cNvSpPr>
          <p:nvPr>
            <p:ph type="ctrTitle"/>
          </p:nvPr>
        </p:nvSpPr>
        <p:spPr>
          <a:xfrm>
            <a:off x="989045" y="111968"/>
            <a:ext cx="4217437" cy="933062"/>
          </a:xfrm>
        </p:spPr>
        <p:txBody>
          <a:bodyPr/>
          <a:lstStyle/>
          <a:p>
            <a:pPr algn="just"/>
            <a:r>
              <a:rPr lang="en-US" sz="2800" b="1" u="sng" dirty="0">
                <a:solidFill>
                  <a:srgbClr val="00B050"/>
                </a:solidFill>
              </a:rPr>
              <a:t>Conclusion</a:t>
            </a:r>
            <a:endParaRPr lang="en-IN" sz="2800" b="1" u="sng" dirty="0">
              <a:solidFill>
                <a:srgbClr val="00B050"/>
              </a:solidFill>
            </a:endParaRPr>
          </a:p>
        </p:txBody>
      </p:sp>
      <p:sp>
        <p:nvSpPr>
          <p:cNvPr id="3" name="Subtitle 2">
            <a:extLst>
              <a:ext uri="{FF2B5EF4-FFF2-40B4-BE49-F238E27FC236}">
                <a16:creationId xmlns:a16="http://schemas.microsoft.com/office/drawing/2014/main" id="{C07A05AF-4DC3-B141-0F42-8D2779A75A26}"/>
              </a:ext>
            </a:extLst>
          </p:cNvPr>
          <p:cNvSpPr>
            <a:spLocks noGrp="1"/>
          </p:cNvSpPr>
          <p:nvPr>
            <p:ph type="subTitle" idx="1"/>
          </p:nvPr>
        </p:nvSpPr>
        <p:spPr>
          <a:xfrm>
            <a:off x="914400" y="1138335"/>
            <a:ext cx="8359603" cy="4991877"/>
          </a:xfrm>
        </p:spPr>
        <p:txBody>
          <a:bodyPr>
            <a:normAutofit/>
          </a:bodyPr>
          <a:lstStyle/>
          <a:p>
            <a:pPr marL="742950" lvl="1" indent="-285750" algn="just">
              <a:buFont typeface="Wingdings" panose="05000000000000000000" pitchFamily="2" charset="2"/>
              <a:buChar char="v"/>
            </a:pPr>
            <a:r>
              <a:rPr lang="en-US" sz="2000" dirty="0">
                <a:solidFill>
                  <a:schemeClr val="tx1"/>
                </a:solidFill>
              </a:rPr>
              <a:t>Mid-range smartphones are the most popular on Flipkart.</a:t>
            </a:r>
          </a:p>
          <a:p>
            <a:pPr marL="742950" lvl="1" indent="-285750" algn="just">
              <a:buFont typeface="Wingdings" panose="05000000000000000000" pitchFamily="2" charset="2"/>
              <a:buChar char="v"/>
            </a:pPr>
            <a:r>
              <a:rPr lang="en-US" sz="2000" dirty="0">
                <a:solidFill>
                  <a:schemeClr val="tx1"/>
                </a:solidFill>
              </a:rPr>
              <a:t>Price increases with higher </a:t>
            </a:r>
            <a:r>
              <a:rPr lang="en-US" sz="2000" b="1" dirty="0">
                <a:solidFill>
                  <a:schemeClr val="tx1"/>
                </a:solidFill>
              </a:rPr>
              <a:t>RAM</a:t>
            </a:r>
            <a:r>
              <a:rPr lang="en-US" sz="2000" dirty="0">
                <a:solidFill>
                  <a:schemeClr val="tx1"/>
                </a:solidFill>
              </a:rPr>
              <a:t>, </a:t>
            </a:r>
            <a:r>
              <a:rPr lang="en-US" sz="2000" b="1" dirty="0">
                <a:solidFill>
                  <a:schemeClr val="tx1"/>
                </a:solidFill>
              </a:rPr>
              <a:t>ROM</a:t>
            </a:r>
            <a:r>
              <a:rPr lang="en-US" sz="2000" dirty="0">
                <a:solidFill>
                  <a:schemeClr val="tx1"/>
                </a:solidFill>
              </a:rPr>
              <a:t>, and advanced </a:t>
            </a:r>
            <a:r>
              <a:rPr lang="en-US" sz="2000" b="1" dirty="0">
                <a:solidFill>
                  <a:schemeClr val="tx1"/>
                </a:solidFill>
              </a:rPr>
              <a:t>processor</a:t>
            </a:r>
            <a:r>
              <a:rPr lang="en-US" sz="2000" dirty="0">
                <a:solidFill>
                  <a:schemeClr val="tx1"/>
                </a:solidFill>
              </a:rPr>
              <a:t> types.</a:t>
            </a:r>
          </a:p>
          <a:p>
            <a:pPr marL="742950" lvl="1" indent="-285750" algn="just">
              <a:buFont typeface="Wingdings" panose="05000000000000000000" pitchFamily="2" charset="2"/>
              <a:buChar char="v"/>
            </a:pPr>
            <a:r>
              <a:rPr lang="en-US" sz="2000" b="1" dirty="0">
                <a:solidFill>
                  <a:schemeClr val="tx1"/>
                </a:solidFill>
              </a:rPr>
              <a:t>Snapdragon 8 series</a:t>
            </a:r>
            <a:r>
              <a:rPr lang="en-US" sz="2000" dirty="0">
                <a:solidFill>
                  <a:schemeClr val="tx1"/>
                </a:solidFill>
              </a:rPr>
              <a:t> and </a:t>
            </a:r>
            <a:r>
              <a:rPr lang="en-US" sz="2000" b="1" dirty="0" err="1">
                <a:solidFill>
                  <a:schemeClr val="tx1"/>
                </a:solidFill>
              </a:rPr>
              <a:t>Exynos</a:t>
            </a:r>
            <a:r>
              <a:rPr lang="en-US" sz="2000" b="1" dirty="0">
                <a:solidFill>
                  <a:schemeClr val="tx1"/>
                </a:solidFill>
              </a:rPr>
              <a:t> 2400</a:t>
            </a:r>
            <a:r>
              <a:rPr lang="en-US" sz="2000" dirty="0">
                <a:solidFill>
                  <a:schemeClr val="tx1"/>
                </a:solidFill>
              </a:rPr>
              <a:t> dominate the premium segment.</a:t>
            </a:r>
          </a:p>
          <a:p>
            <a:pPr marL="742950" lvl="1" indent="-285750" algn="just">
              <a:buFont typeface="Wingdings" panose="05000000000000000000" pitchFamily="2" charset="2"/>
              <a:buChar char="v"/>
            </a:pPr>
            <a:r>
              <a:rPr lang="en-US" sz="2000" b="1" dirty="0">
                <a:solidFill>
                  <a:schemeClr val="tx1"/>
                </a:solidFill>
              </a:rPr>
              <a:t>Battery capacity</a:t>
            </a:r>
            <a:r>
              <a:rPr lang="en-US" sz="2000" dirty="0">
                <a:solidFill>
                  <a:schemeClr val="tx1"/>
                </a:solidFill>
              </a:rPr>
              <a:t> and </a:t>
            </a:r>
            <a:r>
              <a:rPr lang="en-US" sz="2000" b="1" dirty="0">
                <a:solidFill>
                  <a:schemeClr val="tx1"/>
                </a:solidFill>
              </a:rPr>
              <a:t>display size</a:t>
            </a:r>
            <a:r>
              <a:rPr lang="en-US" sz="2000" dirty="0">
                <a:solidFill>
                  <a:schemeClr val="tx1"/>
                </a:solidFill>
              </a:rPr>
              <a:t> moderately impact the overall price.</a:t>
            </a:r>
          </a:p>
          <a:p>
            <a:pPr algn="just"/>
            <a:r>
              <a:rPr lang="en-US" sz="2000" b="1" u="sng" dirty="0">
                <a:solidFill>
                  <a:srgbClr val="FF0000"/>
                </a:solidFill>
              </a:rPr>
              <a:t>Overall Insight:</a:t>
            </a:r>
          </a:p>
          <a:p>
            <a:pPr lvl="1" algn="just"/>
            <a:r>
              <a:rPr lang="en-US" sz="2000" dirty="0">
                <a:solidFill>
                  <a:schemeClr val="tx1"/>
                </a:solidFill>
              </a:rPr>
              <a:t>Flipkart’s smartphone market shows a clear pattern — as performance specifications like RAM, ROM, and processor quality improve, the prices rise significantly. High-end phones attract more attention, while mid-range models remain the top-selling category.</a:t>
            </a:r>
          </a:p>
          <a:p>
            <a:pPr algn="just"/>
            <a:endParaRPr lang="en-IN" dirty="0"/>
          </a:p>
        </p:txBody>
      </p:sp>
    </p:spTree>
    <p:extLst>
      <p:ext uri="{BB962C8B-B14F-4D97-AF65-F5344CB8AC3E}">
        <p14:creationId xmlns:p14="http://schemas.microsoft.com/office/powerpoint/2010/main" val="25079393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37486-5B3C-7382-614E-69B66C09E499}"/>
              </a:ext>
            </a:extLst>
          </p:cNvPr>
          <p:cNvSpPr>
            <a:spLocks noGrp="1"/>
          </p:cNvSpPr>
          <p:nvPr>
            <p:ph type="title"/>
          </p:nvPr>
        </p:nvSpPr>
        <p:spPr/>
        <p:txBody>
          <a:bodyPr/>
          <a:lstStyle/>
          <a:p>
            <a:r>
              <a:rPr lang="en-US" dirty="0"/>
              <a:t>Thank You &amp; Regards,</a:t>
            </a:r>
            <a:endParaRPr lang="en-IN" dirty="0"/>
          </a:p>
        </p:txBody>
      </p:sp>
      <p:sp>
        <p:nvSpPr>
          <p:cNvPr id="4" name="Text Placeholder 3">
            <a:extLst>
              <a:ext uri="{FF2B5EF4-FFF2-40B4-BE49-F238E27FC236}">
                <a16:creationId xmlns:a16="http://schemas.microsoft.com/office/drawing/2014/main" id="{82D037CE-6A82-3B60-67D2-4E28FEECCB67}"/>
              </a:ext>
            </a:extLst>
          </p:cNvPr>
          <p:cNvSpPr>
            <a:spLocks noGrp="1"/>
          </p:cNvSpPr>
          <p:nvPr>
            <p:ph type="body" sz="half" idx="2"/>
          </p:nvPr>
        </p:nvSpPr>
        <p:spPr/>
        <p:txBody>
          <a:bodyPr>
            <a:normAutofit/>
          </a:bodyPr>
          <a:lstStyle/>
          <a:p>
            <a:r>
              <a:rPr lang="en-US" sz="1800" b="1" dirty="0"/>
              <a:t>Venu Gopal Bathula.</a:t>
            </a:r>
            <a:endParaRPr lang="en-IN" sz="1800" b="1" dirty="0"/>
          </a:p>
        </p:txBody>
      </p:sp>
      <p:pic>
        <p:nvPicPr>
          <p:cNvPr id="6146" name="Picture 2">
            <a:extLst>
              <a:ext uri="{FF2B5EF4-FFF2-40B4-BE49-F238E27FC236}">
                <a16:creationId xmlns:a16="http://schemas.microsoft.com/office/drawing/2014/main" id="{FEF04655-376E-C3E9-1D2C-2E48D29A6E38}"/>
              </a:ext>
            </a:extLst>
          </p:cNvPr>
          <p:cNvPicPr>
            <a:picLocks noGrp="1" noChangeAspect="1" noChangeArrowheads="1"/>
          </p:cNvPicPr>
          <p:nvPr>
            <p:ph type="pic" idx="1"/>
          </p:nvPr>
        </p:nvPicPr>
        <p:blipFill>
          <a:blip r:embed="rId2">
            <a:extLst>
              <a:ext uri="{28A0092B-C50C-407E-A947-70E740481C1C}">
                <a14:useLocalDpi xmlns:a14="http://schemas.microsoft.com/office/drawing/2010/main" val="0"/>
              </a:ext>
            </a:extLst>
          </a:blip>
          <a:srcRect t="10242" b="10242"/>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1754314"/>
      </p:ext>
    </p:extLst>
  </p:cSld>
  <p:clrMapOvr>
    <a:masterClrMapping/>
  </p:clrMapOvr>
</p:sld>
</file>

<file path=ppt/theme/theme1.xml><?xml version="1.0" encoding="utf-8"?>
<a:theme xmlns:a="http://schemas.openxmlformats.org/drawingml/2006/main" name="Face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176</TotalTime>
  <Words>2119</Words>
  <Application>Microsoft Office PowerPoint</Application>
  <PresentationFormat>Widescreen</PresentationFormat>
  <Paragraphs>157</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Trebuchet MS</vt:lpstr>
      <vt:lpstr>Wingdings</vt:lpstr>
      <vt:lpstr>Wingdings 3</vt:lpstr>
      <vt:lpstr>Facet</vt:lpstr>
      <vt:lpstr>EXPLORATORY DATA ANALYSIS(EDA) PROJECT </vt:lpstr>
      <vt:lpstr>About me</vt:lpstr>
      <vt:lpstr>Project agenda</vt:lpstr>
      <vt:lpstr>BUSINESS PROBLEM OBJECTIVE</vt:lpstr>
      <vt:lpstr>GOAL:</vt:lpstr>
      <vt:lpstr>Objectives of the Project</vt:lpstr>
      <vt:lpstr>Web scrapping process</vt:lpstr>
      <vt:lpstr>CODE PART</vt:lpstr>
      <vt:lpstr>Summary of Collected Mobile Data </vt:lpstr>
      <vt:lpstr>DATA CLEANING :</vt:lpstr>
      <vt:lpstr>Univariate Analysis(Categorical):</vt:lpstr>
      <vt:lpstr>Bivariate Analysis </vt:lpstr>
      <vt:lpstr>BACK CAMERA COMBINATION ANALYSIS:  The analysis shows that 50MP camera setups dominate across all major smartphone brands, especially combinations like 50MP + 2MP and 50MP + 8MP. Realme and Samsung lead in the number of models and variety of camera configurations, while Oppo, Redmi, and Vivo have fewer but focused options. Overall, brands are standardizing around 50MP sensors to balance performance, quality, and affordability. </vt:lpstr>
      <vt:lpstr>DISPLAY SIZE(cm) Analysis:</vt:lpstr>
      <vt:lpstr>RAM AND ROM ANALYSIS: Most smartphones in the dataset feature 8 GB RAM and 128 GB ROM, indicating that mid-range devices dominate the market. Higher configurations like 12 GB RAM or 256–512 GB ROM appear less frequently, showing limited presence of premium models.</vt:lpstr>
      <vt:lpstr>Pivot tables help analyze relationships, such as average price by ROM,PRICE or RAM size, allowing us to see which features lead to higher prices. Crosstabs are useful for examining frequency distributions, like how many phones fall into each RAM–ROM or Brand–Model combination.</vt:lpstr>
      <vt:lpstr>Analysis of Heat map Based on Core Components</vt:lpstr>
      <vt:lpstr>Ram and Rom Analysis Based on Price</vt:lpstr>
      <vt:lpstr>Ratings Analysis : Battery capacity and price show minimal correlation, indicating that higher battery power doesn’t always mean higher cost. Similarly, the KDE plot shows ratings mostly concentrated in lower price ranges, suggesting affordability often drives higher user engagement rather than premium pricing. </vt:lpstr>
      <vt:lpstr>Price Analysis based on Ratings Across brands</vt:lpstr>
      <vt:lpstr>Processor Analysis Based on price</vt:lpstr>
      <vt:lpstr>Pair plot Analysis for different Indicators</vt:lpstr>
      <vt:lpstr>Challenges &amp; Learnings  </vt:lpstr>
      <vt:lpstr>Conclusion</vt:lpstr>
      <vt:lpstr>Thank You &amp; Regards,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venu bathula</dc:creator>
  <cp:lastModifiedBy>venu bathula</cp:lastModifiedBy>
  <cp:revision>1</cp:revision>
  <dcterms:created xsi:type="dcterms:W3CDTF">2025-10-27T05:46:03Z</dcterms:created>
  <dcterms:modified xsi:type="dcterms:W3CDTF">2025-10-27T08:42:10Z</dcterms:modified>
</cp:coreProperties>
</file>